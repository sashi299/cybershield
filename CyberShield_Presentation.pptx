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Good morning judges and mentors. Today, we are proud to present CyberShield — an intelligent, real-time protection system designed to safeguard users from the rapidly growing menace of phishing, WhatsApp smishing, and fraudulent QR codes.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Phishing has moved to mobile messaging. Traditional security tools fail because they expect the user to be suspicious first and copy-paste links. But social engineering relies on panic. We need a system that detects threats autonomously the millisecond they arrive.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CyberShield transforms mobile security from reactive to autonomous. It runs quietly in the background, intercepts incoming messages, executes hybrid AI inference in under 10 milliseconds, and warns you immediately if a threat is detected.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CyberShield covers every threat vector — whether it's an incoming text, a banking link, a compromised QR code at a store, or a link copied from social media. Everything is analyzed with uniform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Here is our architecture. Our mobile app leverages native Android background services to capture notification streams. These are dispatched to our high-throughput FastAPI backend over asynchronous REST APIs, evaluated against our hybrid detection core, and returned within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Pure machine learning models often hallucinate or produce false alarms, while pure rules miss novel phrasing. CyberShield combines the interpretability and precision of deterministic security rules with the flexibility of ML NLP, delivering dependable verdicts.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Our Android implementation is built for real-world resilience. We solved platform-specific challenges like background process limits, notification permissions, and lockscreen privacy masking to ensure users get immediate, clear visibility of potential threats.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For desktop users and enterprise administrators, our Web Dashboard provides a fast, modern command center. It shares the exact same backend engine as our mobile app, providing consistent threat intelligence across devices.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Security tools shouldn't just block; they should educate. When CyberShield detects a threat, it doesn't just say 'Blocked'. It shows the exact red flags found and tells the user exactly what to do next. This builds long-term user awareness.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We benchmarked and verified our entire stack with 28 automated integration tests covering URL parsing, false-positive prevention, OTP safety, and QR decoders. Everything executes in sub-10 milliseconds with high accuracy.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Looking ahead, our vision is to expand CyberShield into browser extensions, integrate vernacular language processing for regional scams, and add identity breach monitoring to create an all-in-one digital defense platform.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To conclude, CyberShield bridges the critical gap between threat arrival and user action through intelligent, real-time background protection. Thank you judges. We are now open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188720"/>
            <a:ext cx="10362895" cy="914400"/>
          </a:xfrm>
          <a:prstGeom prst="rect">
            <a:avLst/>
          </a:prstGeom>
          <a:noFill/>
        </p:spPr>
        <p:txBody>
          <a:bodyPr wrap="none">
            <a:spAutoFit/>
          </a:bodyPr>
          <a:lstStyle/>
          <a:p>
            <a:pPr algn="ctr">
              <a:defRPr sz="5400"/>
            </a:pPr>
            <a:r>
              <a:t>🛡️</a:t>
            </a:r>
          </a:p>
        </p:txBody>
      </p:sp>
      <p:sp>
        <p:nvSpPr>
          <p:cNvPr id="4" name="TextBox 3"/>
          <p:cNvSpPr txBox="1"/>
          <p:nvPr/>
        </p:nvSpPr>
        <p:spPr>
          <a:xfrm>
            <a:off x="914400" y="2103120"/>
            <a:ext cx="10362895" cy="1005840"/>
          </a:xfrm>
          <a:prstGeom prst="rect">
            <a:avLst/>
          </a:prstGeom>
          <a:noFill/>
        </p:spPr>
        <p:txBody>
          <a:bodyPr wrap="none">
            <a:spAutoFit/>
          </a:bodyPr>
          <a:lstStyle/>
          <a:p>
            <a:pPr algn="ctr">
              <a:defRPr sz="4400" b="1">
                <a:solidFill>
                  <a:srgbClr val="F1F5F9"/>
                </a:solidFill>
                <a:latin typeface="Arial"/>
              </a:defRPr>
            </a:pPr>
            <a:r>
              <a:t>CYBERSHIELD</a:t>
            </a:r>
          </a:p>
        </p:txBody>
      </p:sp>
      <p:sp>
        <p:nvSpPr>
          <p:cNvPr id="5" name="TextBox 4"/>
          <p:cNvSpPr txBox="1"/>
          <p:nvPr/>
        </p:nvSpPr>
        <p:spPr>
          <a:xfrm>
            <a:off x="914400" y="3108960"/>
            <a:ext cx="10362895" cy="731520"/>
          </a:xfrm>
          <a:prstGeom prst="rect">
            <a:avLst/>
          </a:prstGeom>
          <a:noFill/>
        </p:spPr>
        <p:txBody>
          <a:bodyPr wrap="none">
            <a:spAutoFit/>
          </a:bodyPr>
          <a:lstStyle/>
          <a:p>
            <a:pPr algn="ctr">
              <a:defRPr sz="1600" b="1">
                <a:solidFill>
                  <a:srgbClr val="38BDF8"/>
                </a:solidFill>
                <a:latin typeface="Arial"/>
              </a:defRPr>
            </a:pPr>
            <a:r>
              <a:t>Real-Time AI-Powered Phishing, Smishing &amp; Fraud Protection Engine</a:t>
            </a:r>
          </a:p>
          <a:p>
            <a:pPr algn="ctr">
              <a:defRPr sz="1300">
                <a:solidFill>
                  <a:srgbClr val="94A3B8"/>
                </a:solidFill>
                <a:latin typeface="Arial"/>
              </a:defRPr>
            </a:pPr>
            <a:r>
              <a:t>Autonomous Lockscreen &amp; In-App Security for Messaging Ecosystems</a:t>
            </a:r>
          </a:p>
        </p:txBody>
      </p:sp>
      <p:sp>
        <p:nvSpPr>
          <p:cNvPr id="6" name="Rounded Rectangle 5"/>
          <p:cNvSpPr/>
          <p:nvPr/>
        </p:nvSpPr>
        <p:spPr>
          <a:xfrm>
            <a:off x="914400" y="4389120"/>
            <a:ext cx="3291840" cy="914400"/>
          </a:xfrm>
          <a:prstGeom prst="roundRect">
            <a:avLst/>
          </a:prstGeom>
          <a:solidFill>
            <a:srgbClr val="1E293B"/>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tIns="137160"/>
          <a:lstStyle/>
          <a:p>
            <a:pPr algn="ctr">
              <a:defRPr sz="900" b="1">
                <a:solidFill>
                  <a:srgbClr val="06B6D4"/>
                </a:solidFill>
              </a:defRPr>
            </a:pPr>
            <a:r>
              <a:t>🚀 TRACK &amp; DOMAIN</a:t>
            </a:r>
          </a:p>
          <a:p>
            <a:pPr algn="ctr">
              <a:defRPr sz="1200" b="1">
                <a:solidFill>
                  <a:srgbClr val="F1F5F9"/>
                </a:solidFill>
              </a:defRPr>
            </a:pPr>
            <a:r>
              <a:t>Cybersecurity &amp; AI / ML</a:t>
            </a:r>
          </a:p>
        </p:txBody>
      </p:sp>
      <p:sp>
        <p:nvSpPr>
          <p:cNvPr id="7" name="Rounded Rectangle 6"/>
          <p:cNvSpPr/>
          <p:nvPr/>
        </p:nvSpPr>
        <p:spPr>
          <a:xfrm>
            <a:off x="4443984" y="4389120"/>
            <a:ext cx="3291840" cy="914400"/>
          </a:xfrm>
          <a:prstGeom prst="roundRect">
            <a:avLst/>
          </a:prstGeom>
          <a:solidFill>
            <a:srgbClr val="1E293B"/>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137160"/>
          <a:lstStyle/>
          <a:p>
            <a:pPr algn="ctr">
              <a:defRPr sz="900" b="1">
                <a:solidFill>
                  <a:srgbClr val="10B981"/>
                </a:solidFill>
              </a:defRPr>
            </a:pPr>
            <a:r>
              <a:t>📱 PLATFORM STACK</a:t>
            </a:r>
          </a:p>
          <a:p>
            <a:pPr algn="ctr">
              <a:defRPr sz="1200" b="1">
                <a:solidFill>
                  <a:srgbClr val="F1F5F9"/>
                </a:solidFill>
              </a:defRPr>
            </a:pPr>
            <a:r>
              <a:t>Flutter + Native Android + React 19</a:t>
            </a:r>
          </a:p>
        </p:txBody>
      </p:sp>
      <p:sp>
        <p:nvSpPr>
          <p:cNvPr id="8" name="Rounded Rectangle 7"/>
          <p:cNvSpPr/>
          <p:nvPr/>
        </p:nvSpPr>
        <p:spPr>
          <a:xfrm>
            <a:off x="7982712" y="4389120"/>
            <a:ext cx="3291840" cy="914400"/>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tIns="137160"/>
          <a:lstStyle/>
          <a:p>
            <a:pPr algn="ctr">
              <a:defRPr sz="900" b="1">
                <a:solidFill>
                  <a:srgbClr val="38BDF8"/>
                </a:solidFill>
              </a:defRPr>
            </a:pPr>
            <a:r>
              <a:t>⚡ SPEED &amp; LATENCY</a:t>
            </a:r>
          </a:p>
          <a:p>
            <a:pPr algn="ctr">
              <a:defRPr sz="1200" b="1">
                <a:solidFill>
                  <a:srgbClr val="F1F5F9"/>
                </a:solidFill>
              </a:defRPr>
            </a:pPr>
            <a:r>
              <a:t>&lt;10ms Hybrid Core Inference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011680" cy="320040"/>
          </a:xfrm>
          <a:prstGeom prst="roundRect">
            <a:avLst/>
          </a:prstGeom>
          <a:solidFill>
            <a:srgbClr val="0F2235"/>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6B6D4"/>
                </a:solidFill>
                <a:latin typeface="Arial"/>
              </a:defRPr>
            </a:pPr>
            <a:r>
              <a:t>CHALLENGE &amp; MARKET NEED</a:t>
            </a:r>
          </a:p>
        </p:txBody>
      </p:sp>
      <p:sp>
        <p:nvSpPr>
          <p:cNvPr id="4" name="TextBox 3"/>
          <p:cNvSpPr txBox="1"/>
          <p:nvPr/>
        </p:nvSpPr>
        <p:spPr>
          <a:xfrm>
            <a:off x="9601200" y="365760"/>
            <a:ext cx="1828800" cy="320040"/>
          </a:xfrm>
          <a:prstGeom prst="rect">
            <a:avLst/>
          </a:prstGeom>
          <a:noFill/>
        </p:spPr>
        <p:txBody>
          <a:bodyPr wrap="none">
            <a:spAutoFit/>
          </a:bodyPr>
          <a:lstStyle/>
          <a:p>
            <a:pPr algn="r">
              <a:defRPr sz="1000" b="1">
                <a:solidFill>
                  <a:srgbClr val="94A3B8"/>
                </a:solidFill>
                <a:latin typeface="Consolas"/>
              </a:defRPr>
            </a:pPr>
            <a:r>
              <a:t>SLIDE 02 / 12</a:t>
            </a:r>
          </a:p>
        </p:txBody>
      </p:sp>
      <p:sp>
        <p:nvSpPr>
          <p:cNvPr id="5" name="TextBox 4"/>
          <p:cNvSpPr txBox="1"/>
          <p:nvPr/>
        </p:nvSpPr>
        <p:spPr>
          <a:xfrm>
            <a:off x="731520" y="777240"/>
            <a:ext cx="10698480" cy="548640"/>
          </a:xfrm>
          <a:prstGeom prst="rect">
            <a:avLst/>
          </a:prstGeom>
          <a:noFill/>
        </p:spPr>
        <p:txBody>
          <a:bodyPr wrap="none">
            <a:spAutoFit/>
          </a:bodyPr>
          <a:lstStyle/>
          <a:p>
            <a:pPr>
              <a:defRPr sz="2200" b="1">
                <a:solidFill>
                  <a:srgbClr val="F1F5F9"/>
                </a:solidFill>
                <a:latin typeface="Arial"/>
              </a:defRPr>
            </a:pPr>
            <a:r>
              <a:t>🚨 The Epidemic of Social Engineering &amp; Smishing</a:t>
            </a:r>
          </a:p>
        </p:txBody>
      </p:sp>
      <p:sp>
        <p:nvSpPr>
          <p:cNvPr id="6" name="TextBox 5"/>
          <p:cNvSpPr txBox="1"/>
          <p:nvPr/>
        </p:nvSpPr>
        <p:spPr>
          <a:xfrm>
            <a:off x="731520" y="1280160"/>
            <a:ext cx="10698480" cy="365760"/>
          </a:xfrm>
          <a:prstGeom prst="rect">
            <a:avLst/>
          </a:prstGeom>
          <a:noFill/>
        </p:spPr>
        <p:txBody>
          <a:bodyPr wrap="none">
            <a:spAutoFit/>
          </a:bodyPr>
          <a:lstStyle/>
          <a:p>
            <a:pPr>
              <a:defRPr sz="1100">
                <a:solidFill>
                  <a:srgbClr val="94A3B8"/>
                </a:solidFill>
                <a:latin typeface="Arial"/>
              </a:defRPr>
            </a:pPr>
            <a:r>
              <a:t>Why existing cybersecurity tools fail everyday mobile users</a:t>
            </a:r>
          </a:p>
        </p:txBody>
      </p:sp>
      <p:sp>
        <p:nvSpPr>
          <p:cNvPr id="7" name="Rounded Rectangle 6"/>
          <p:cNvSpPr/>
          <p:nvPr/>
        </p:nvSpPr>
        <p:spPr>
          <a:xfrm>
            <a:off x="731520" y="1828800"/>
            <a:ext cx="5175504" cy="2057400"/>
          </a:xfrm>
          <a:prstGeom prst="roundRect">
            <a:avLst/>
          </a:prstGeom>
          <a:solidFill>
            <a:srgbClr val="26141C"/>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EF4444"/>
                </a:solidFill>
                <a:latin typeface="Arial"/>
              </a:defRPr>
            </a:pPr>
            <a:r>
              <a:t>📱 Smishing &amp; WhatsApp Fraud Surge</a:t>
            </a:r>
          </a:p>
          <a:p>
            <a:pPr>
              <a:spcAft>
                <a:spcPts val="400"/>
              </a:spcAft>
              <a:defRPr sz="1000">
                <a:solidFill>
                  <a:srgbClr val="F1F5F9"/>
                </a:solidFill>
                <a:latin typeface="Calibri"/>
              </a:defRPr>
            </a:pPr>
            <a:r>
              <a:t>•  Over 3.4 billion phishing messages are sent globally every day.</a:t>
            </a:r>
          </a:p>
          <a:p>
            <a:pPr>
              <a:spcAft>
                <a:spcPts val="400"/>
              </a:spcAft>
              <a:defRPr sz="1000">
                <a:solidFill>
                  <a:srgbClr val="F1F5F9"/>
                </a:solidFill>
                <a:latin typeface="Calibri"/>
              </a:defRPr>
            </a:pPr>
            <a:r>
              <a:t>•  Attackers impersonate trusted banks, courier deliveries, electricity bills, and lottery schemes.</a:t>
            </a:r>
          </a:p>
          <a:p>
            <a:pPr>
              <a:spcAft>
                <a:spcPts val="400"/>
              </a:spcAft>
              <a:defRPr sz="1000">
                <a:solidFill>
                  <a:srgbClr val="F1F5F9"/>
                </a:solidFill>
                <a:latin typeface="Calibri"/>
              </a:defRPr>
            </a:pPr>
            <a:r>
              <a:t>•  Manufactured urgency forces victims into hasty actions ('Account suspended in 2 hours').</a:t>
            </a:r>
          </a:p>
        </p:txBody>
      </p:sp>
      <p:sp>
        <p:nvSpPr>
          <p:cNvPr id="8" name="Rounded Rectangle 7"/>
          <p:cNvSpPr/>
          <p:nvPr/>
        </p:nvSpPr>
        <p:spPr>
          <a:xfrm>
            <a:off x="6272784" y="1828800"/>
            <a:ext cx="5175504" cy="2057400"/>
          </a:xfrm>
          <a:prstGeom prst="roundRect">
            <a:avLst/>
          </a:prstGeom>
          <a:solidFill>
            <a:srgbClr val="26141C"/>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EF4444"/>
                </a:solidFill>
                <a:latin typeface="Arial"/>
              </a:defRPr>
            </a:pPr>
            <a:r>
              <a:t>📷 The Rise of Quishing (QR Phishing)</a:t>
            </a:r>
          </a:p>
          <a:p>
            <a:pPr>
              <a:spcAft>
                <a:spcPts val="400"/>
              </a:spcAft>
              <a:defRPr sz="1000">
                <a:solidFill>
                  <a:srgbClr val="F1F5F9"/>
                </a:solidFill>
                <a:latin typeface="Calibri"/>
              </a:defRPr>
            </a:pPr>
            <a:r>
              <a:t>•  Fraudulent QR codes placed over legitimate merchant payment stands and public posters.</a:t>
            </a:r>
          </a:p>
          <a:p>
            <a:pPr>
              <a:spcAft>
                <a:spcPts val="400"/>
              </a:spcAft>
              <a:defRPr sz="1000">
                <a:solidFill>
                  <a:srgbClr val="F1F5F9"/>
                </a:solidFill>
                <a:latin typeface="Calibri"/>
              </a:defRPr>
            </a:pPr>
            <a:r>
              <a:t>•  Bypasses standard email/browser gateways since QR codes conceal the true underlying URL from the human eye.</a:t>
            </a:r>
          </a:p>
        </p:txBody>
      </p:sp>
      <p:sp>
        <p:nvSpPr>
          <p:cNvPr id="9" name="Rounded Rectangle 8"/>
          <p:cNvSpPr/>
          <p:nvPr/>
        </p:nvSpPr>
        <p:spPr>
          <a:xfrm>
            <a:off x="731520" y="4114800"/>
            <a:ext cx="5175504" cy="2057400"/>
          </a:xfrm>
          <a:prstGeom prst="roundRect">
            <a:avLst/>
          </a:prstGeom>
          <a:solidFill>
            <a:srgbClr val="12263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06B6D4"/>
                </a:solidFill>
                <a:latin typeface="Arial"/>
              </a:defRPr>
            </a:pPr>
            <a:r>
              <a:t>⏳ The Failure of Manual Security Checkers</a:t>
            </a:r>
          </a:p>
          <a:p>
            <a:pPr>
              <a:spcAft>
                <a:spcPts val="400"/>
              </a:spcAft>
              <a:defRPr sz="1000">
                <a:solidFill>
                  <a:srgbClr val="F1F5F9"/>
                </a:solidFill>
                <a:latin typeface="Calibri"/>
              </a:defRPr>
            </a:pPr>
            <a:r>
              <a:t>•  Existing scanners require users to manually copy-paste links into a browser website.</a:t>
            </a:r>
          </a:p>
          <a:p>
            <a:pPr>
              <a:spcAft>
                <a:spcPts val="400"/>
              </a:spcAft>
              <a:defRPr sz="1000">
                <a:solidFill>
                  <a:srgbClr val="F1F5F9"/>
                </a:solidFill>
                <a:latin typeface="Calibri"/>
              </a:defRPr>
            </a:pPr>
            <a:r>
              <a:t>•  Victims click first due to urgency or trust — by then, credentials or OTPs are already compromised.</a:t>
            </a:r>
          </a:p>
        </p:txBody>
      </p:sp>
      <p:sp>
        <p:nvSpPr>
          <p:cNvPr id="10" name="Rounded Rectangle 9"/>
          <p:cNvSpPr/>
          <p:nvPr/>
        </p:nvSpPr>
        <p:spPr>
          <a:xfrm>
            <a:off x="6272784" y="4114800"/>
            <a:ext cx="5175504" cy="2057400"/>
          </a:xfrm>
          <a:prstGeom prst="roundRect">
            <a:avLst/>
          </a:prstGeom>
          <a:solidFill>
            <a:srgbClr val="12263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06B6D4"/>
                </a:solidFill>
                <a:latin typeface="Arial"/>
              </a:defRPr>
            </a:pPr>
            <a:r>
              <a:t>❓ Black-Box Confusion</a:t>
            </a:r>
          </a:p>
          <a:p>
            <a:pPr>
              <a:spcAft>
                <a:spcPts val="400"/>
              </a:spcAft>
              <a:defRPr sz="1000">
                <a:solidFill>
                  <a:srgbClr val="F1F5F9"/>
                </a:solidFill>
                <a:latin typeface="Calibri"/>
              </a:defRPr>
            </a:pPr>
            <a:r>
              <a:t>•  Legacy security apps show cryptic risk percentages without explaining why a link is harmful.</a:t>
            </a:r>
          </a:p>
          <a:p>
            <a:pPr>
              <a:spcAft>
                <a:spcPts val="400"/>
              </a:spcAft>
              <a:defRPr sz="1000">
                <a:solidFill>
                  <a:srgbClr val="F1F5F9"/>
                </a:solidFill>
                <a:latin typeface="Calibri"/>
              </a:defRPr>
            </a:pPr>
            <a:r>
              <a:t>•  Non-technical users receive no clear, actionable instructions on what immediate steps to take.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011680" cy="320040"/>
          </a:xfrm>
          <a:prstGeom prst="roundRect">
            <a:avLst/>
          </a:prstGeom>
          <a:solidFill>
            <a:srgbClr val="0F2235"/>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6B6D4"/>
                </a:solidFill>
                <a:latin typeface="Arial"/>
              </a:defRPr>
            </a:pPr>
            <a:r>
              <a:t>CORE SOLUTION</a:t>
            </a:r>
          </a:p>
        </p:txBody>
      </p:sp>
      <p:sp>
        <p:nvSpPr>
          <p:cNvPr id="4" name="TextBox 3"/>
          <p:cNvSpPr txBox="1"/>
          <p:nvPr/>
        </p:nvSpPr>
        <p:spPr>
          <a:xfrm>
            <a:off x="9601200" y="365760"/>
            <a:ext cx="1828800" cy="320040"/>
          </a:xfrm>
          <a:prstGeom prst="rect">
            <a:avLst/>
          </a:prstGeom>
          <a:noFill/>
        </p:spPr>
        <p:txBody>
          <a:bodyPr wrap="none">
            <a:spAutoFit/>
          </a:bodyPr>
          <a:lstStyle/>
          <a:p>
            <a:pPr algn="r">
              <a:defRPr sz="1000" b="1">
                <a:solidFill>
                  <a:srgbClr val="94A3B8"/>
                </a:solidFill>
                <a:latin typeface="Consolas"/>
              </a:defRPr>
            </a:pPr>
            <a:r>
              <a:t>SLIDE 03 / 12</a:t>
            </a:r>
          </a:p>
        </p:txBody>
      </p:sp>
      <p:sp>
        <p:nvSpPr>
          <p:cNvPr id="5" name="TextBox 4"/>
          <p:cNvSpPr txBox="1"/>
          <p:nvPr/>
        </p:nvSpPr>
        <p:spPr>
          <a:xfrm>
            <a:off x="731520" y="777240"/>
            <a:ext cx="10698480" cy="548640"/>
          </a:xfrm>
          <a:prstGeom prst="rect">
            <a:avLst/>
          </a:prstGeom>
          <a:noFill/>
        </p:spPr>
        <p:txBody>
          <a:bodyPr wrap="none">
            <a:spAutoFit/>
          </a:bodyPr>
          <a:lstStyle/>
          <a:p>
            <a:pPr>
              <a:defRPr sz="2200" b="1">
                <a:solidFill>
                  <a:srgbClr val="F1F5F9"/>
                </a:solidFill>
                <a:latin typeface="Arial"/>
              </a:defRPr>
            </a:pPr>
            <a:r>
              <a:t>💡 CyberShield: Autonomous Zero-Friction Defense</a:t>
            </a:r>
          </a:p>
        </p:txBody>
      </p:sp>
      <p:sp>
        <p:nvSpPr>
          <p:cNvPr id="6" name="TextBox 5"/>
          <p:cNvSpPr txBox="1"/>
          <p:nvPr/>
        </p:nvSpPr>
        <p:spPr>
          <a:xfrm>
            <a:off x="731520" y="1280160"/>
            <a:ext cx="10698480" cy="365760"/>
          </a:xfrm>
          <a:prstGeom prst="rect">
            <a:avLst/>
          </a:prstGeom>
          <a:noFill/>
        </p:spPr>
        <p:txBody>
          <a:bodyPr wrap="none">
            <a:spAutoFit/>
          </a:bodyPr>
          <a:lstStyle/>
          <a:p>
            <a:pPr>
              <a:defRPr sz="1100">
                <a:solidFill>
                  <a:srgbClr val="94A3B8"/>
                </a:solidFill>
                <a:latin typeface="Arial"/>
              </a:defRPr>
            </a:pPr>
            <a:r>
              <a:t>Proactive background intelligence bridging threat arrival and user action</a:t>
            </a:r>
          </a:p>
        </p:txBody>
      </p:sp>
      <p:sp>
        <p:nvSpPr>
          <p:cNvPr id="7" name="Rounded Rectangle 6"/>
          <p:cNvSpPr/>
          <p:nvPr/>
        </p:nvSpPr>
        <p:spPr>
          <a:xfrm>
            <a:off x="731520" y="1828800"/>
            <a:ext cx="3328416" cy="4343400"/>
          </a:xfrm>
          <a:prstGeom prst="roundRect">
            <a:avLst/>
          </a:prstGeom>
          <a:solidFill>
            <a:srgbClr val="12263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06B6D4"/>
                </a:solidFill>
                <a:latin typeface="Arial"/>
              </a:defRPr>
            </a:pPr>
            <a:r>
              <a:t>⚡ Background Auto-Intercept</a:t>
            </a:r>
          </a:p>
          <a:p>
            <a:pPr>
              <a:spcAft>
                <a:spcPts val="400"/>
              </a:spcAft>
              <a:defRPr sz="1000">
                <a:solidFill>
                  <a:srgbClr val="F1F5F9"/>
                </a:solidFill>
                <a:latin typeface="Calibri"/>
              </a:defRPr>
            </a:pPr>
            <a:r>
              <a:t>•  Native Android service silently monitors incoming WhatsApp, Telegram &amp; SMS notifications.</a:t>
            </a:r>
          </a:p>
          <a:p>
            <a:pPr>
              <a:spcAft>
                <a:spcPts val="400"/>
              </a:spcAft>
              <a:defRPr sz="1000">
                <a:solidFill>
                  <a:srgbClr val="F1F5F9"/>
                </a:solidFill>
                <a:latin typeface="Calibri"/>
              </a:defRPr>
            </a:pPr>
            <a:r>
              <a:t>•  Zero user friction: scans run in the background without needing the app to be open.</a:t>
            </a:r>
          </a:p>
          <a:p>
            <a:pPr>
              <a:spcAft>
                <a:spcPts val="400"/>
              </a:spcAft>
              <a:defRPr sz="1000">
                <a:solidFill>
                  <a:srgbClr val="F1F5F9"/>
                </a:solidFill>
                <a:latin typeface="Calibri"/>
              </a:defRPr>
            </a:pPr>
            <a:r>
              <a:t>•  Instant high-priority lockscreen alerts with custom vibration patterns for threat vectors.</a:t>
            </a:r>
          </a:p>
        </p:txBody>
      </p:sp>
      <p:sp>
        <p:nvSpPr>
          <p:cNvPr id="8" name="Rounded Rectangle 7"/>
          <p:cNvSpPr/>
          <p:nvPr/>
        </p:nvSpPr>
        <p:spPr>
          <a:xfrm>
            <a:off x="4425696" y="1828800"/>
            <a:ext cx="3328416" cy="4343400"/>
          </a:xfrm>
          <a:prstGeom prst="roundRect">
            <a:avLst/>
          </a:prstGeom>
          <a:solidFill>
            <a:srgbClr val="10252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10B981"/>
                </a:solidFill>
                <a:latin typeface="Arial"/>
              </a:defRPr>
            </a:pPr>
            <a:r>
              <a:t>🧠 Dual-Engine Hybrid AI</a:t>
            </a:r>
          </a:p>
          <a:p>
            <a:pPr>
              <a:spcAft>
                <a:spcPts val="400"/>
              </a:spcAft>
              <a:defRPr sz="1000">
                <a:solidFill>
                  <a:srgbClr val="F1F5F9"/>
                </a:solidFill>
                <a:latin typeface="Calibri"/>
              </a:defRPr>
            </a:pPr>
            <a:r>
              <a:t>•  70% Deterministic Rules: Catches typosquatting, DGA domains, blacklisted TLDs, and OTP traps.</a:t>
            </a:r>
          </a:p>
          <a:p>
            <a:pPr>
              <a:spcAft>
                <a:spcPts val="400"/>
              </a:spcAft>
              <a:defRPr sz="1000">
                <a:solidFill>
                  <a:srgbClr val="F1F5F9"/>
                </a:solidFill>
                <a:latin typeface="Calibri"/>
              </a:defRPr>
            </a:pPr>
            <a:r>
              <a:t>•  30% NLP Machine Learning: TF-IDF vectorizer identifying semantic coercion and phishing syntax.</a:t>
            </a:r>
          </a:p>
          <a:p>
            <a:pPr>
              <a:spcAft>
                <a:spcPts val="400"/>
              </a:spcAft>
              <a:defRPr sz="1000">
                <a:solidFill>
                  <a:srgbClr val="F1F5F9"/>
                </a:solidFill>
                <a:latin typeface="Calibri"/>
              </a:defRPr>
            </a:pPr>
            <a:r>
              <a:t>•  Balances accuracy with strict false-positive prevention.</a:t>
            </a:r>
          </a:p>
        </p:txBody>
      </p:sp>
      <p:sp>
        <p:nvSpPr>
          <p:cNvPr id="9" name="Rounded Rectangle 8"/>
          <p:cNvSpPr/>
          <p:nvPr/>
        </p:nvSpPr>
        <p:spPr>
          <a:xfrm>
            <a:off x="8119872" y="1828800"/>
            <a:ext cx="3328416" cy="4343400"/>
          </a:xfrm>
          <a:prstGeom prst="roundRect">
            <a:avLst/>
          </a:prstGeom>
          <a:solidFill>
            <a:srgbClr val="12263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06B6D4"/>
                </a:solidFill>
                <a:latin typeface="Arial"/>
              </a:defRPr>
            </a:pPr>
            <a:r>
              <a:t>🔍 Explainable AI (XAI)</a:t>
            </a:r>
          </a:p>
          <a:p>
            <a:pPr>
              <a:spcAft>
                <a:spcPts val="400"/>
              </a:spcAft>
              <a:defRPr sz="1000">
                <a:solidFill>
                  <a:srgbClr val="F1F5F9"/>
                </a:solidFill>
                <a:latin typeface="Calibri"/>
              </a:defRPr>
            </a:pPr>
            <a:r>
              <a:t>•  Clear color-coded verdicts: SAFE (Green), SUSPICIOUS (Amber), DANGEROUS (Red).</a:t>
            </a:r>
          </a:p>
          <a:p>
            <a:pPr>
              <a:spcAft>
                <a:spcPts val="400"/>
              </a:spcAft>
              <a:defRPr sz="1000">
                <a:solidFill>
                  <a:srgbClr val="F1F5F9"/>
                </a:solidFill>
                <a:latin typeface="Calibri"/>
              </a:defRPr>
            </a:pPr>
            <a:r>
              <a:t>•  Itemizes exact Red Flag triggers (e.g. Typosquatting, Missing HTTPS).</a:t>
            </a:r>
          </a:p>
          <a:p>
            <a:pPr>
              <a:spcAft>
                <a:spcPts val="400"/>
              </a:spcAft>
              <a:defRPr sz="1000">
                <a:solidFill>
                  <a:srgbClr val="F1F5F9"/>
                </a:solidFill>
                <a:latin typeface="Calibri"/>
              </a:defRPr>
            </a:pPr>
            <a:r>
              <a:t>•  Provides plain-language explanations and step-by-step actionable safety tips.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011680" cy="320040"/>
          </a:xfrm>
          <a:prstGeom prst="roundRect">
            <a:avLst/>
          </a:prstGeom>
          <a:solidFill>
            <a:srgbClr val="0F2235"/>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6B6D4"/>
                </a:solidFill>
                <a:latin typeface="Arial"/>
              </a:defRPr>
            </a:pPr>
            <a:r>
              <a:t>PRODUCT FEATURES</a:t>
            </a:r>
          </a:p>
        </p:txBody>
      </p:sp>
      <p:sp>
        <p:nvSpPr>
          <p:cNvPr id="4" name="TextBox 3"/>
          <p:cNvSpPr txBox="1"/>
          <p:nvPr/>
        </p:nvSpPr>
        <p:spPr>
          <a:xfrm>
            <a:off x="9601200" y="365760"/>
            <a:ext cx="1828800" cy="320040"/>
          </a:xfrm>
          <a:prstGeom prst="rect">
            <a:avLst/>
          </a:prstGeom>
          <a:noFill/>
        </p:spPr>
        <p:txBody>
          <a:bodyPr wrap="none">
            <a:spAutoFit/>
          </a:bodyPr>
          <a:lstStyle/>
          <a:p>
            <a:pPr algn="r">
              <a:defRPr sz="1000" b="1">
                <a:solidFill>
                  <a:srgbClr val="94A3B8"/>
                </a:solidFill>
                <a:latin typeface="Consolas"/>
              </a:defRPr>
            </a:pPr>
            <a:r>
              <a:t>SLIDE 04 / 12</a:t>
            </a:r>
          </a:p>
        </p:txBody>
      </p:sp>
      <p:sp>
        <p:nvSpPr>
          <p:cNvPr id="5" name="TextBox 4"/>
          <p:cNvSpPr txBox="1"/>
          <p:nvPr/>
        </p:nvSpPr>
        <p:spPr>
          <a:xfrm>
            <a:off x="731520" y="777240"/>
            <a:ext cx="10698480" cy="548640"/>
          </a:xfrm>
          <a:prstGeom prst="rect">
            <a:avLst/>
          </a:prstGeom>
          <a:noFill/>
        </p:spPr>
        <p:txBody>
          <a:bodyPr wrap="none">
            <a:spAutoFit/>
          </a:bodyPr>
          <a:lstStyle/>
          <a:p>
            <a:pPr>
              <a:defRPr sz="2200" b="1">
                <a:solidFill>
                  <a:srgbClr val="F1F5F9"/>
                </a:solidFill>
                <a:latin typeface="Arial"/>
              </a:defRPr>
            </a:pPr>
            <a:r>
              <a:t>🌟 Key Features &amp; Unique Selling Propositions</a:t>
            </a:r>
          </a:p>
        </p:txBody>
      </p:sp>
      <p:sp>
        <p:nvSpPr>
          <p:cNvPr id="6" name="TextBox 5"/>
          <p:cNvSpPr txBox="1"/>
          <p:nvPr/>
        </p:nvSpPr>
        <p:spPr>
          <a:xfrm>
            <a:off x="731520" y="1280160"/>
            <a:ext cx="10698480" cy="365760"/>
          </a:xfrm>
          <a:prstGeom prst="rect">
            <a:avLst/>
          </a:prstGeom>
          <a:noFill/>
        </p:spPr>
        <p:txBody>
          <a:bodyPr wrap="none">
            <a:spAutoFit/>
          </a:bodyPr>
          <a:lstStyle/>
          <a:p>
            <a:pPr>
              <a:defRPr sz="1100">
                <a:solidFill>
                  <a:srgbClr val="94A3B8"/>
                </a:solidFill>
                <a:latin typeface="Arial"/>
              </a:defRPr>
            </a:pPr>
            <a:r>
              <a:t>Comprehensive multi-vector threat protection across digital ecosystems</a:t>
            </a:r>
          </a:p>
        </p:txBody>
      </p:sp>
      <p:sp>
        <p:nvSpPr>
          <p:cNvPr id="7" name="Rounded Rectangle 6"/>
          <p:cNvSpPr/>
          <p:nvPr/>
        </p:nvSpPr>
        <p:spPr>
          <a:xfrm>
            <a:off x="731520" y="1828800"/>
            <a:ext cx="5175504" cy="20574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38BDF8"/>
                </a:solidFill>
                <a:latin typeface="Arial"/>
              </a:defRPr>
            </a:pPr>
            <a:r>
              <a:t>💬 WhatsApp &amp; Messaging Auto-Shield</a:t>
            </a:r>
          </a:p>
          <a:p>
            <a:pPr>
              <a:spcAft>
                <a:spcPts val="400"/>
              </a:spcAft>
              <a:defRPr sz="1000">
                <a:solidFill>
                  <a:srgbClr val="F1F5F9"/>
                </a:solidFill>
                <a:latin typeface="Calibri"/>
              </a:defRPr>
            </a:pPr>
            <a:r>
              <a:t>•  Monitors WhatsApp, WhatsApp Business, Telegram, SMS, Gmail, and Instagram.</a:t>
            </a:r>
          </a:p>
          <a:p>
            <a:pPr>
              <a:spcAft>
                <a:spcPts val="400"/>
              </a:spcAft>
              <a:defRPr sz="1000">
                <a:solidFill>
                  <a:srgbClr val="F1F5F9"/>
                </a:solidFill>
                <a:latin typeface="Calibri"/>
              </a:defRPr>
            </a:pPr>
            <a:r>
              <a:t>•  Configured with VISIBILITY_PUBLIC to ensure threat details are never masked by Android's 'Content Hidden' lockscreen policy.</a:t>
            </a:r>
          </a:p>
        </p:txBody>
      </p:sp>
      <p:sp>
        <p:nvSpPr>
          <p:cNvPr id="8" name="Rounded Rectangle 7"/>
          <p:cNvSpPr/>
          <p:nvPr/>
        </p:nvSpPr>
        <p:spPr>
          <a:xfrm>
            <a:off x="6272784" y="1828800"/>
            <a:ext cx="5175504" cy="20574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38BDF8"/>
                </a:solidFill>
                <a:latin typeface="Arial"/>
              </a:defRPr>
            </a:pPr>
            <a:r>
              <a:t>🌐 Deep URL Security Heuristics</a:t>
            </a:r>
          </a:p>
          <a:p>
            <a:pPr>
              <a:spcAft>
                <a:spcPts val="400"/>
              </a:spcAft>
              <a:defRPr sz="1000">
                <a:solidFill>
                  <a:srgbClr val="F1F5F9"/>
                </a:solidFill>
                <a:latin typeface="Calibri"/>
              </a:defRPr>
            </a:pPr>
            <a:r>
              <a:t>•  Real-time live DNS resolution verifying active domains vs sinkholes.</a:t>
            </a:r>
          </a:p>
          <a:p>
            <a:pPr>
              <a:spcAft>
                <a:spcPts val="400"/>
              </a:spcAft>
              <a:defRPr sz="1000">
                <a:solidFill>
                  <a:srgbClr val="F1F5F9"/>
                </a:solidFill>
                <a:latin typeface="Calibri"/>
              </a:defRPr>
            </a:pPr>
            <a:r>
              <a:t>•  Catches deceptive brand typosquatting (e.g. paypal-verify.xyz, sbi-reward.online).</a:t>
            </a:r>
          </a:p>
          <a:p>
            <a:pPr>
              <a:spcAft>
                <a:spcPts val="400"/>
              </a:spcAft>
              <a:defRPr sz="1000">
                <a:solidFill>
                  <a:srgbClr val="F1F5F9"/>
                </a:solidFill>
                <a:latin typeface="Calibri"/>
              </a:defRPr>
            </a:pPr>
            <a:r>
              <a:t>•  Detects IP-based hosts, excessive subdomains, and URL shortener abuse.</a:t>
            </a:r>
          </a:p>
        </p:txBody>
      </p:sp>
      <p:sp>
        <p:nvSpPr>
          <p:cNvPr id="9" name="Rounded Rectangle 8"/>
          <p:cNvSpPr/>
          <p:nvPr/>
        </p:nvSpPr>
        <p:spPr>
          <a:xfrm>
            <a:off x="731520" y="4114800"/>
            <a:ext cx="5175504" cy="20574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38BDF8"/>
                </a:solidFill>
                <a:latin typeface="Arial"/>
              </a:defRPr>
            </a:pPr>
            <a:r>
              <a:t>📷 Smart Hardware QR Scanner</a:t>
            </a:r>
          </a:p>
          <a:p>
            <a:pPr>
              <a:spcAft>
                <a:spcPts val="400"/>
              </a:spcAft>
              <a:defRPr sz="1000">
                <a:solidFill>
                  <a:srgbClr val="F1F5F9"/>
                </a:solidFill>
                <a:latin typeface="Calibri"/>
              </a:defRPr>
            </a:pPr>
            <a:r>
              <a:t>•  Direct camera hardware stream with flash toggle, camera flip, and gallery image decoding.</a:t>
            </a:r>
          </a:p>
          <a:p>
            <a:pPr>
              <a:spcAft>
                <a:spcPts val="400"/>
              </a:spcAft>
              <a:defRPr sz="1000">
                <a:solidFill>
                  <a:srgbClr val="F1F5F9"/>
                </a:solidFill>
                <a:latin typeface="Calibri"/>
              </a:defRPr>
            </a:pPr>
            <a:r>
              <a:t>•  Intelligently auto-routes between website URLs and raw text payloads without throwing exceptions.</a:t>
            </a:r>
          </a:p>
        </p:txBody>
      </p:sp>
      <p:sp>
        <p:nvSpPr>
          <p:cNvPr id="10" name="Rounded Rectangle 9"/>
          <p:cNvSpPr/>
          <p:nvPr/>
        </p:nvSpPr>
        <p:spPr>
          <a:xfrm>
            <a:off x="6272784" y="4114800"/>
            <a:ext cx="5175504" cy="20574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38BDF8"/>
                </a:solidFill>
                <a:latin typeface="Arial"/>
              </a:defRPr>
            </a:pPr>
            <a:r>
              <a:t>📋 1-Tap Clipboard Quick Check &amp; History</a:t>
            </a:r>
          </a:p>
          <a:p>
            <a:pPr>
              <a:spcAft>
                <a:spcPts val="400"/>
              </a:spcAft>
              <a:defRPr sz="1000">
                <a:solidFill>
                  <a:srgbClr val="F1F5F9"/>
                </a:solidFill>
                <a:latin typeface="Calibri"/>
              </a:defRPr>
            </a:pPr>
            <a:r>
              <a:t>•  Scan copied links or text snippets straight from the system clipboard with a single tap.</a:t>
            </a:r>
          </a:p>
          <a:p>
            <a:pPr>
              <a:spcAft>
                <a:spcPts val="400"/>
              </a:spcAft>
              <a:defRPr sz="1000">
                <a:solidFill>
                  <a:srgbClr val="F1F5F9"/>
                </a:solidFill>
                <a:latin typeface="Calibri"/>
              </a:defRPr>
            </a:pPr>
            <a:r>
              <a:t>•  SQLite-backed persistent history log enabling incident review and audit trails.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011680" cy="320040"/>
          </a:xfrm>
          <a:prstGeom prst="roundRect">
            <a:avLst/>
          </a:prstGeom>
          <a:solidFill>
            <a:srgbClr val="0F2235"/>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6B6D4"/>
                </a:solidFill>
                <a:latin typeface="Arial"/>
              </a:defRPr>
            </a:pPr>
            <a:r>
              <a:t>TECHNICAL ARCHITECTURE</a:t>
            </a:r>
          </a:p>
        </p:txBody>
      </p:sp>
      <p:sp>
        <p:nvSpPr>
          <p:cNvPr id="4" name="TextBox 3"/>
          <p:cNvSpPr txBox="1"/>
          <p:nvPr/>
        </p:nvSpPr>
        <p:spPr>
          <a:xfrm>
            <a:off x="9601200" y="365760"/>
            <a:ext cx="1828800" cy="320040"/>
          </a:xfrm>
          <a:prstGeom prst="rect">
            <a:avLst/>
          </a:prstGeom>
          <a:noFill/>
        </p:spPr>
        <p:txBody>
          <a:bodyPr wrap="none">
            <a:spAutoFit/>
          </a:bodyPr>
          <a:lstStyle/>
          <a:p>
            <a:pPr algn="r">
              <a:defRPr sz="1000" b="1">
                <a:solidFill>
                  <a:srgbClr val="94A3B8"/>
                </a:solidFill>
                <a:latin typeface="Consolas"/>
              </a:defRPr>
            </a:pPr>
            <a:r>
              <a:t>SLIDE 05 / 12</a:t>
            </a:r>
          </a:p>
        </p:txBody>
      </p:sp>
      <p:sp>
        <p:nvSpPr>
          <p:cNvPr id="5" name="TextBox 4"/>
          <p:cNvSpPr txBox="1"/>
          <p:nvPr/>
        </p:nvSpPr>
        <p:spPr>
          <a:xfrm>
            <a:off x="731520" y="777240"/>
            <a:ext cx="10698480" cy="548640"/>
          </a:xfrm>
          <a:prstGeom prst="rect">
            <a:avLst/>
          </a:prstGeom>
          <a:noFill/>
        </p:spPr>
        <p:txBody>
          <a:bodyPr wrap="none">
            <a:spAutoFit/>
          </a:bodyPr>
          <a:lstStyle/>
          <a:p>
            <a:pPr>
              <a:defRPr sz="2200" b="1">
                <a:solidFill>
                  <a:srgbClr val="F1F5F9"/>
                </a:solidFill>
                <a:latin typeface="Arial"/>
              </a:defRPr>
            </a:pPr>
            <a:r>
              <a:t>🏗️ System Architecture &amp; Data Pipeline</a:t>
            </a:r>
          </a:p>
        </p:txBody>
      </p:sp>
      <p:sp>
        <p:nvSpPr>
          <p:cNvPr id="6" name="TextBox 5"/>
          <p:cNvSpPr txBox="1"/>
          <p:nvPr/>
        </p:nvSpPr>
        <p:spPr>
          <a:xfrm>
            <a:off x="731520" y="1280160"/>
            <a:ext cx="10698480" cy="365760"/>
          </a:xfrm>
          <a:prstGeom prst="rect">
            <a:avLst/>
          </a:prstGeom>
          <a:noFill/>
        </p:spPr>
        <p:txBody>
          <a:bodyPr wrap="none">
            <a:spAutoFit/>
          </a:bodyPr>
          <a:lstStyle/>
          <a:p>
            <a:pPr>
              <a:defRPr sz="1100">
                <a:solidFill>
                  <a:srgbClr val="94A3B8"/>
                </a:solidFill>
                <a:latin typeface="Arial"/>
              </a:defRPr>
            </a:pPr>
            <a:r>
              <a:t>High-throughput, asynchronous client-server architecture</a:t>
            </a:r>
          </a:p>
        </p:txBody>
      </p:sp>
      <p:sp>
        <p:nvSpPr>
          <p:cNvPr id="7" name="Rounded Rectangle 6"/>
          <p:cNvSpPr/>
          <p:nvPr/>
        </p:nvSpPr>
        <p:spPr>
          <a:xfrm>
            <a:off x="731520" y="1828800"/>
            <a:ext cx="5175504" cy="4343400"/>
          </a:xfrm>
          <a:prstGeom prst="roundRect">
            <a:avLst/>
          </a:prstGeom>
          <a:solidFill>
            <a:srgbClr val="12263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06B6D4"/>
                </a:solidFill>
                <a:latin typeface="Arial"/>
              </a:defRPr>
            </a:pPr>
            <a:r>
              <a:t>📱 Frontend &amp; Client Layer</a:t>
            </a:r>
          </a:p>
          <a:p>
            <a:pPr>
              <a:spcAft>
                <a:spcPts val="400"/>
              </a:spcAft>
              <a:defRPr sz="1000">
                <a:solidFill>
                  <a:srgbClr val="F1F5F9"/>
                </a:solidFill>
                <a:latin typeface="Calibri"/>
              </a:defRPr>
            </a:pPr>
            <a:r>
              <a:t>•  Flutter Mobile Client: Built with Provider state management, Dio HTTP networking with dynamic IP interceptor, dark glassmorphic UI.</a:t>
            </a:r>
          </a:p>
          <a:p>
            <a:pPr>
              <a:spcAft>
                <a:spcPts val="400"/>
              </a:spcAft>
              <a:defRPr sz="1000">
                <a:solidFill>
                  <a:srgbClr val="F1F5F9"/>
                </a:solidFill>
                <a:latin typeface="Calibri"/>
              </a:defRPr>
            </a:pPr>
            <a:r>
              <a:t>•  Android Native Bridge: Kotlin NotificationListenerService and SmsReceiver coupled via MethodChannel and EventChannel.</a:t>
            </a:r>
          </a:p>
          <a:p>
            <a:pPr>
              <a:spcAft>
                <a:spcPts val="400"/>
              </a:spcAft>
              <a:defRPr sz="1000">
                <a:solidFill>
                  <a:srgbClr val="F1F5F9"/>
                </a:solidFill>
                <a:latin typeface="Calibri"/>
              </a:defRPr>
            </a:pPr>
            <a:r>
              <a:t>•  React 19 Web Dashboard: Vite 6, Tailwind CSS, drag-and-drop QR file upload dropzone.</a:t>
            </a:r>
          </a:p>
          <a:p>
            <a:pPr>
              <a:spcAft>
                <a:spcPts val="400"/>
              </a:spcAft>
              <a:defRPr sz="1000">
                <a:solidFill>
                  <a:srgbClr val="F1F5F9"/>
                </a:solidFill>
                <a:latin typeface="Calibri"/>
              </a:defRPr>
            </a:pPr>
            <a:r>
              <a:t>•  Responsive cross-platform parity sharing the same centralized AI backend.</a:t>
            </a:r>
          </a:p>
        </p:txBody>
      </p:sp>
      <p:sp>
        <p:nvSpPr>
          <p:cNvPr id="8" name="Rounded Rectangle 7"/>
          <p:cNvSpPr/>
          <p:nvPr/>
        </p:nvSpPr>
        <p:spPr>
          <a:xfrm>
            <a:off x="6272784" y="1828800"/>
            <a:ext cx="5175504" cy="4343400"/>
          </a:xfrm>
          <a:prstGeom prst="roundRect">
            <a:avLst/>
          </a:prstGeom>
          <a:solidFill>
            <a:srgbClr val="10252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10B981"/>
                </a:solidFill>
                <a:latin typeface="Arial"/>
              </a:defRPr>
            </a:pPr>
            <a:r>
              <a:t>⚙️ Backend AI Services (FastAPI)</a:t>
            </a:r>
          </a:p>
          <a:p>
            <a:pPr>
              <a:spcAft>
                <a:spcPts val="400"/>
              </a:spcAft>
              <a:defRPr sz="1000">
                <a:solidFill>
                  <a:srgbClr val="F1F5F9"/>
                </a:solidFill>
                <a:latin typeface="Calibri"/>
              </a:defRPr>
            </a:pPr>
            <a:r>
              <a:t>•  REST Gateway (:8000): Asynchronous endpoints for /api/analyze/url, /api/analyze/text, /api/analyze/qr, /api/history.</a:t>
            </a:r>
          </a:p>
          <a:p>
            <a:pPr>
              <a:spcAft>
                <a:spcPts val="400"/>
              </a:spcAft>
              <a:defRPr sz="1000">
                <a:solidFill>
                  <a:srgbClr val="F1F5F9"/>
                </a:solidFill>
                <a:latin typeface="Calibri"/>
              </a:defRPr>
            </a:pPr>
            <a:r>
              <a:t>•  Analysis Pipeline: Deterministic Rule Engine + TF-IDF ML Model + Explainable AI module.</a:t>
            </a:r>
          </a:p>
          <a:p>
            <a:pPr>
              <a:spcAft>
                <a:spcPts val="400"/>
              </a:spcAft>
              <a:defRPr sz="1000">
                <a:solidFill>
                  <a:srgbClr val="F1F5F9"/>
                </a:solidFill>
                <a:latin typeface="Calibri"/>
              </a:defRPr>
            </a:pPr>
            <a:r>
              <a:t>•  Database Layer: SQLite with WAL mode for persistent scan telemetry and audit logging.</a:t>
            </a:r>
          </a:p>
          <a:p>
            <a:pPr>
              <a:spcAft>
                <a:spcPts val="400"/>
              </a:spcAft>
              <a:defRPr sz="1000">
                <a:solidFill>
                  <a:srgbClr val="F1F5F9"/>
                </a:solidFill>
                <a:latin typeface="Calibri"/>
              </a:defRPr>
            </a:pPr>
            <a:r>
              <a:t>•  Average inference turnaround in sub-10 milliseconds.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011680" cy="320040"/>
          </a:xfrm>
          <a:prstGeom prst="roundRect">
            <a:avLst/>
          </a:prstGeom>
          <a:solidFill>
            <a:srgbClr val="0F2235"/>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6B6D4"/>
                </a:solidFill>
                <a:latin typeface="Arial"/>
              </a:defRPr>
            </a:pPr>
            <a:r>
              <a:t>AI &amp; HEURISTICS</a:t>
            </a:r>
          </a:p>
        </p:txBody>
      </p:sp>
      <p:sp>
        <p:nvSpPr>
          <p:cNvPr id="4" name="TextBox 3"/>
          <p:cNvSpPr txBox="1"/>
          <p:nvPr/>
        </p:nvSpPr>
        <p:spPr>
          <a:xfrm>
            <a:off x="9601200" y="365760"/>
            <a:ext cx="1828800" cy="320040"/>
          </a:xfrm>
          <a:prstGeom prst="rect">
            <a:avLst/>
          </a:prstGeom>
          <a:noFill/>
        </p:spPr>
        <p:txBody>
          <a:bodyPr wrap="none">
            <a:spAutoFit/>
          </a:bodyPr>
          <a:lstStyle/>
          <a:p>
            <a:pPr algn="r">
              <a:defRPr sz="1000" b="1">
                <a:solidFill>
                  <a:srgbClr val="94A3B8"/>
                </a:solidFill>
                <a:latin typeface="Consolas"/>
              </a:defRPr>
            </a:pPr>
            <a:r>
              <a:t>SLIDE 06 / 12</a:t>
            </a:r>
          </a:p>
        </p:txBody>
      </p:sp>
      <p:sp>
        <p:nvSpPr>
          <p:cNvPr id="5" name="TextBox 4"/>
          <p:cNvSpPr txBox="1"/>
          <p:nvPr/>
        </p:nvSpPr>
        <p:spPr>
          <a:xfrm>
            <a:off x="731520" y="777240"/>
            <a:ext cx="10698480" cy="548640"/>
          </a:xfrm>
          <a:prstGeom prst="rect">
            <a:avLst/>
          </a:prstGeom>
          <a:noFill/>
        </p:spPr>
        <p:txBody>
          <a:bodyPr wrap="none">
            <a:spAutoFit/>
          </a:bodyPr>
          <a:lstStyle/>
          <a:p>
            <a:pPr>
              <a:defRPr sz="2200" b="1">
                <a:solidFill>
                  <a:srgbClr val="F1F5F9"/>
                </a:solidFill>
                <a:latin typeface="Arial"/>
              </a:defRPr>
            </a:pPr>
            <a:r>
              <a:t>🧠 The Hybrid AI Detection Engine</a:t>
            </a:r>
          </a:p>
        </p:txBody>
      </p:sp>
      <p:sp>
        <p:nvSpPr>
          <p:cNvPr id="6" name="TextBox 5"/>
          <p:cNvSpPr txBox="1"/>
          <p:nvPr/>
        </p:nvSpPr>
        <p:spPr>
          <a:xfrm>
            <a:off x="731520" y="1280160"/>
            <a:ext cx="10698480" cy="365760"/>
          </a:xfrm>
          <a:prstGeom prst="rect">
            <a:avLst/>
          </a:prstGeom>
          <a:noFill/>
        </p:spPr>
        <p:txBody>
          <a:bodyPr wrap="none">
            <a:spAutoFit/>
          </a:bodyPr>
          <a:lstStyle/>
          <a:p>
            <a:pPr>
              <a:defRPr sz="1100">
                <a:solidFill>
                  <a:srgbClr val="94A3B8"/>
                </a:solidFill>
                <a:latin typeface="Arial"/>
              </a:defRPr>
            </a:pPr>
            <a:r>
              <a:t>Combining deterministic cybersecurity heuristics with NLP statistical models</a:t>
            </a:r>
          </a:p>
        </p:txBody>
      </p:sp>
      <p:sp>
        <p:nvSpPr>
          <p:cNvPr id="7" name="Rounded Rectangle 6"/>
          <p:cNvSpPr/>
          <p:nvPr/>
        </p:nvSpPr>
        <p:spPr>
          <a:xfrm>
            <a:off x="731520" y="1828800"/>
            <a:ext cx="5175504" cy="4343400"/>
          </a:xfrm>
          <a:prstGeom prst="roundRect">
            <a:avLst/>
          </a:prstGeom>
          <a:solidFill>
            <a:srgbClr val="12263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06B6D4"/>
                </a:solidFill>
                <a:latin typeface="Arial"/>
              </a:defRPr>
            </a:pPr>
            <a:r>
              <a:t>📐 Rule Engine (70% Deterministic Weight)</a:t>
            </a:r>
          </a:p>
          <a:p>
            <a:pPr>
              <a:spcAft>
                <a:spcPts val="400"/>
              </a:spcAft>
              <a:defRPr sz="1000">
                <a:solidFill>
                  <a:srgbClr val="F1F5F9"/>
                </a:solidFill>
                <a:latin typeface="Calibri"/>
              </a:defRPr>
            </a:pPr>
            <a:r>
              <a:t>•  Typosquatting: Detects deceptive brand imitations across 20+ top services (Google, PayPal, SBI, Amazon, Netflix).</a:t>
            </a:r>
          </a:p>
          <a:p>
            <a:pPr>
              <a:spcAft>
                <a:spcPts val="400"/>
              </a:spcAft>
              <a:defRPr sz="1000">
                <a:solidFill>
                  <a:srgbClr val="F1F5F9"/>
                </a:solidFill>
                <a:latin typeface="Calibri"/>
              </a:defRPr>
            </a:pPr>
            <a:r>
              <a:t>•  DGA Detection: Calculates vowel ratios and consonant clustering to flag randomly generated malware domains.</a:t>
            </a:r>
          </a:p>
          <a:p>
            <a:pPr>
              <a:spcAft>
                <a:spcPts val="400"/>
              </a:spcAft>
              <a:defRPr sz="1000">
                <a:solidFill>
                  <a:srgbClr val="F1F5F9"/>
                </a:solidFill>
                <a:latin typeface="Calibri"/>
              </a:defRPr>
            </a:pPr>
            <a:r>
              <a:t>•  Urgency Heuristics: Identifies coercive phrases ('Account suspended', 'Immediate action required').</a:t>
            </a:r>
          </a:p>
          <a:p>
            <a:pPr>
              <a:spcAft>
                <a:spcPts val="400"/>
              </a:spcAft>
              <a:defRPr sz="1000">
                <a:solidFill>
                  <a:srgbClr val="F1F5F9"/>
                </a:solidFill>
                <a:latin typeface="Calibri"/>
              </a:defRPr>
            </a:pPr>
            <a:r>
              <a:t>•  Safe Context Engine: Whitelists legitimate transactional OTP formats ('Your OTP is 482910') to avoid false alarms.</a:t>
            </a:r>
          </a:p>
        </p:txBody>
      </p:sp>
      <p:sp>
        <p:nvSpPr>
          <p:cNvPr id="8" name="Rounded Rectangle 7"/>
          <p:cNvSpPr/>
          <p:nvPr/>
        </p:nvSpPr>
        <p:spPr>
          <a:xfrm>
            <a:off x="6272784" y="1828800"/>
            <a:ext cx="5175504" cy="4343400"/>
          </a:xfrm>
          <a:prstGeom prst="roundRect">
            <a:avLst/>
          </a:prstGeom>
          <a:solidFill>
            <a:srgbClr val="10252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10B981"/>
                </a:solidFill>
                <a:latin typeface="Arial"/>
              </a:defRPr>
            </a:pPr>
            <a:r>
              <a:t>🤖 Machine Learning Classifier (30% Weight)</a:t>
            </a:r>
          </a:p>
          <a:p>
            <a:pPr>
              <a:spcAft>
                <a:spcPts val="400"/>
              </a:spcAft>
              <a:defRPr sz="1000">
                <a:solidFill>
                  <a:srgbClr val="F1F5F9"/>
                </a:solidFill>
                <a:latin typeface="Calibri"/>
              </a:defRPr>
            </a:pPr>
            <a:r>
              <a:t>•  Trained on 800+ real-world phishing and legitimate communications.</a:t>
            </a:r>
          </a:p>
          <a:p>
            <a:pPr>
              <a:spcAft>
                <a:spcPts val="400"/>
              </a:spcAft>
              <a:defRPr sz="1000">
                <a:solidFill>
                  <a:srgbClr val="F1F5F9"/>
                </a:solidFill>
                <a:latin typeface="Calibri"/>
              </a:defRPr>
            </a:pPr>
            <a:r>
              <a:t>•  TF-IDF N-gram feature extraction capturing semantic phishing cues.</a:t>
            </a:r>
          </a:p>
          <a:p>
            <a:pPr>
              <a:spcAft>
                <a:spcPts val="400"/>
              </a:spcAft>
              <a:defRPr sz="1000">
                <a:solidFill>
                  <a:srgbClr val="F1F5F9"/>
                </a:solidFill>
                <a:latin typeface="Calibri"/>
              </a:defRPr>
            </a:pPr>
            <a:r>
              <a:t>•  Balanced Verdict Logic:</a:t>
            </a:r>
          </a:p>
          <a:p>
            <a:pPr>
              <a:spcAft>
                <a:spcPts val="400"/>
              </a:spcAft>
              <a:defRPr sz="1000">
                <a:solidFill>
                  <a:srgbClr val="F1F5F9"/>
                </a:solidFill>
                <a:latin typeface="Calibri"/>
              </a:defRPr>
            </a:pPr>
            <a:r>
              <a:t>•    • Dangerous: combined &gt;= 48 or rule_score &gt;= 50</a:t>
            </a:r>
          </a:p>
          <a:p>
            <a:pPr>
              <a:spcAft>
                <a:spcPts val="400"/>
              </a:spcAft>
              <a:defRPr sz="1000">
                <a:solidFill>
                  <a:srgbClr val="F1F5F9"/>
                </a:solidFill>
                <a:latin typeface="Calibri"/>
              </a:defRPr>
            </a:pPr>
            <a:r>
              <a:t>•    • Suspicious: rule_score &gt;= 15 or combined &gt;= 18</a:t>
            </a:r>
          </a:p>
          <a:p>
            <a:pPr>
              <a:spcAft>
                <a:spcPts val="400"/>
              </a:spcAft>
              <a:defRPr sz="1000">
                <a:solidFill>
                  <a:srgbClr val="F1F5F9"/>
                </a:solidFill>
                <a:latin typeface="Calibri"/>
              </a:defRPr>
            </a:pPr>
            <a:r>
              <a:t>•    • Safe: Clean input (0 rules) -&gt; 85-95% Safe confidence score.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011680" cy="320040"/>
          </a:xfrm>
          <a:prstGeom prst="roundRect">
            <a:avLst/>
          </a:prstGeom>
          <a:solidFill>
            <a:srgbClr val="0F2235"/>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6B6D4"/>
                </a:solidFill>
                <a:latin typeface="Arial"/>
              </a:defRPr>
            </a:pPr>
            <a:r>
              <a:t>MOBILE ENGINEERING</a:t>
            </a:r>
          </a:p>
        </p:txBody>
      </p:sp>
      <p:sp>
        <p:nvSpPr>
          <p:cNvPr id="4" name="TextBox 3"/>
          <p:cNvSpPr txBox="1"/>
          <p:nvPr/>
        </p:nvSpPr>
        <p:spPr>
          <a:xfrm>
            <a:off x="9601200" y="365760"/>
            <a:ext cx="1828800" cy="320040"/>
          </a:xfrm>
          <a:prstGeom prst="rect">
            <a:avLst/>
          </a:prstGeom>
          <a:noFill/>
        </p:spPr>
        <p:txBody>
          <a:bodyPr wrap="none">
            <a:spAutoFit/>
          </a:bodyPr>
          <a:lstStyle/>
          <a:p>
            <a:pPr algn="r">
              <a:defRPr sz="1000" b="1">
                <a:solidFill>
                  <a:srgbClr val="94A3B8"/>
                </a:solidFill>
                <a:latin typeface="Consolas"/>
              </a:defRPr>
            </a:pPr>
            <a:r>
              <a:t>SLIDE 07 / 12</a:t>
            </a:r>
          </a:p>
        </p:txBody>
      </p:sp>
      <p:sp>
        <p:nvSpPr>
          <p:cNvPr id="5" name="TextBox 4"/>
          <p:cNvSpPr txBox="1"/>
          <p:nvPr/>
        </p:nvSpPr>
        <p:spPr>
          <a:xfrm>
            <a:off x="731520" y="777240"/>
            <a:ext cx="10698480" cy="548640"/>
          </a:xfrm>
          <a:prstGeom prst="rect">
            <a:avLst/>
          </a:prstGeom>
          <a:noFill/>
        </p:spPr>
        <p:txBody>
          <a:bodyPr wrap="none">
            <a:spAutoFit/>
          </a:bodyPr>
          <a:lstStyle/>
          <a:p>
            <a:pPr>
              <a:defRPr sz="2200" b="1">
                <a:solidFill>
                  <a:srgbClr val="F1F5F9"/>
                </a:solidFill>
                <a:latin typeface="Arial"/>
              </a:defRPr>
            </a:pPr>
            <a:r>
              <a:t>📱 Deep Android OS Integration &amp; Resilience</a:t>
            </a:r>
          </a:p>
        </p:txBody>
      </p:sp>
      <p:sp>
        <p:nvSpPr>
          <p:cNvPr id="6" name="TextBox 5"/>
          <p:cNvSpPr txBox="1"/>
          <p:nvPr/>
        </p:nvSpPr>
        <p:spPr>
          <a:xfrm>
            <a:off x="731520" y="1280160"/>
            <a:ext cx="10698480" cy="365760"/>
          </a:xfrm>
          <a:prstGeom prst="rect">
            <a:avLst/>
          </a:prstGeom>
          <a:noFill/>
        </p:spPr>
        <p:txBody>
          <a:bodyPr wrap="none">
            <a:spAutoFit/>
          </a:bodyPr>
          <a:lstStyle/>
          <a:p>
            <a:pPr>
              <a:defRPr sz="1100">
                <a:solidFill>
                  <a:srgbClr val="94A3B8"/>
                </a:solidFill>
                <a:latin typeface="Arial"/>
              </a:defRPr>
            </a:pPr>
            <a:r>
              <a:t>Native Kotlin services engineered for real-world background execution</a:t>
            </a:r>
          </a:p>
        </p:txBody>
      </p:sp>
      <p:sp>
        <p:nvSpPr>
          <p:cNvPr id="7" name="Rounded Rectangle 6"/>
          <p:cNvSpPr/>
          <p:nvPr/>
        </p:nvSpPr>
        <p:spPr>
          <a:xfrm>
            <a:off x="731520" y="1828800"/>
            <a:ext cx="5175504" cy="20574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38BDF8"/>
                </a:solidFill>
                <a:latin typeface="Arial"/>
              </a:defRPr>
            </a:pPr>
            <a:r>
              <a:t>🔔 Dual-Channel Notification Architecture</a:t>
            </a:r>
          </a:p>
          <a:p>
            <a:pPr>
              <a:spcAft>
                <a:spcPts val="400"/>
              </a:spcAft>
              <a:defRPr sz="1000">
                <a:solidFill>
                  <a:srgbClr val="F1F5F9"/>
                </a:solidFill>
                <a:latin typeface="Calibri"/>
              </a:defRPr>
            </a:pPr>
            <a:r>
              <a:t>•  Threat Channel (High Importance): Fires with custom vibration patterns (500ms bursts) and red alert banners for Dangerous/Suspicious threats.</a:t>
            </a:r>
          </a:p>
          <a:p>
            <a:pPr>
              <a:spcAft>
                <a:spcPts val="400"/>
              </a:spcAft>
              <a:defRPr sz="1000">
                <a:solidFill>
                  <a:srgbClr val="F1F5F9"/>
                </a:solidFill>
                <a:latin typeface="Calibri"/>
              </a:defRPr>
            </a:pPr>
            <a:r>
              <a:t>•  Safe Channel (Default Importance): Provides non-intrusive confirmation that incoming messages were scanned and verified safe.</a:t>
            </a:r>
          </a:p>
        </p:txBody>
      </p:sp>
      <p:sp>
        <p:nvSpPr>
          <p:cNvPr id="8" name="Rounded Rectangle 7"/>
          <p:cNvSpPr/>
          <p:nvPr/>
        </p:nvSpPr>
        <p:spPr>
          <a:xfrm>
            <a:off x="6272784" y="1828800"/>
            <a:ext cx="5175504" cy="20574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38BDF8"/>
                </a:solidFill>
                <a:latin typeface="Arial"/>
              </a:defRPr>
            </a:pPr>
            <a:r>
              <a:t>🔓 Zero-Masking Lockscreen Visibility</a:t>
            </a:r>
          </a:p>
          <a:p>
            <a:pPr>
              <a:spcAft>
                <a:spcPts val="400"/>
              </a:spcAft>
              <a:defRPr sz="1000">
                <a:solidFill>
                  <a:srgbClr val="F1F5F9"/>
                </a:solidFill>
                <a:latin typeface="Calibri"/>
              </a:defRPr>
            </a:pPr>
            <a:r>
              <a:t>•  Explicitly configured with Notification.VISIBILITY_PUBLIC.</a:t>
            </a:r>
          </a:p>
          <a:p>
            <a:pPr>
              <a:spcAft>
                <a:spcPts val="400"/>
              </a:spcAft>
              <a:defRPr sz="1000">
                <a:solidFill>
                  <a:srgbClr val="F1F5F9"/>
                </a:solidFill>
                <a:latin typeface="Calibri"/>
              </a:defRPr>
            </a:pPr>
            <a:r>
              <a:t>•  Eliminates Android 12/13/14's default 'Content Hidden' lockscreen masking so threat details are immediately visible.</a:t>
            </a:r>
          </a:p>
        </p:txBody>
      </p:sp>
      <p:sp>
        <p:nvSpPr>
          <p:cNvPr id="9" name="Rounded Rectangle 8"/>
          <p:cNvSpPr/>
          <p:nvPr/>
        </p:nvSpPr>
        <p:spPr>
          <a:xfrm>
            <a:off x="731520" y="4114800"/>
            <a:ext cx="5175504" cy="2057400"/>
          </a:xfrm>
          <a:prstGeom prst="roundRect">
            <a:avLst/>
          </a:prstGeom>
          <a:solidFill>
            <a:srgbClr val="12263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06B6D4"/>
                </a:solidFill>
                <a:latin typeface="Arial"/>
              </a:defRPr>
            </a:pPr>
            <a:r>
              <a:t>⚙️ Dynamic Network IP Synchronization</a:t>
            </a:r>
          </a:p>
          <a:p>
            <a:pPr>
              <a:spcAft>
                <a:spcPts val="400"/>
              </a:spcAft>
              <a:defRPr sz="1000">
                <a:solidFill>
                  <a:srgbClr val="F1F5F9"/>
                </a:solidFill>
                <a:latin typeface="Calibri"/>
              </a:defRPr>
            </a:pPr>
            <a:r>
              <a:t>•  Native services read backend server IP dynamically from SharedPreferences (flutter.server_ip).</a:t>
            </a:r>
          </a:p>
          <a:p>
            <a:pPr>
              <a:spcAft>
                <a:spcPts val="400"/>
              </a:spcAft>
              <a:defRPr sz="1000">
                <a:solidFill>
                  <a:srgbClr val="F1F5F9"/>
                </a:solidFill>
                <a:latin typeface="Calibri"/>
              </a:defRPr>
            </a:pPr>
            <a:r>
              <a:t>•  Allows the app to seamlessly adapt when testing across changing WiFi networks without re-compilation.</a:t>
            </a:r>
          </a:p>
        </p:txBody>
      </p:sp>
      <p:sp>
        <p:nvSpPr>
          <p:cNvPr id="10" name="Rounded Rectangle 9"/>
          <p:cNvSpPr/>
          <p:nvPr/>
        </p:nvSpPr>
        <p:spPr>
          <a:xfrm>
            <a:off x="6272784" y="4114800"/>
            <a:ext cx="5175504" cy="2057400"/>
          </a:xfrm>
          <a:prstGeom prst="roundRect">
            <a:avLst/>
          </a:prstGeom>
          <a:solidFill>
            <a:srgbClr val="12263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06B6D4"/>
                </a:solidFill>
                <a:latin typeface="Arial"/>
              </a:defRPr>
            </a:pPr>
            <a:r>
              <a:t>🔋 Battery &amp; Memory Efficiency</a:t>
            </a:r>
          </a:p>
          <a:p>
            <a:pPr>
              <a:spcAft>
                <a:spcPts val="400"/>
              </a:spcAft>
              <a:defRPr sz="1000">
                <a:solidFill>
                  <a:srgbClr val="F1F5F9"/>
                </a:solidFill>
                <a:latin typeface="Calibri"/>
              </a:defRPr>
            </a:pPr>
            <a:r>
              <a:t>•  Event-driven architecture: zero background CPU polling when idle.</a:t>
            </a:r>
          </a:p>
          <a:p>
            <a:pPr>
              <a:spcAft>
                <a:spcPts val="400"/>
              </a:spcAft>
              <a:defRPr sz="1000">
                <a:solidFill>
                  <a:srgbClr val="F1F5F9"/>
                </a:solidFill>
                <a:latin typeface="Calibri"/>
              </a:defRPr>
            </a:pPr>
            <a:r>
              <a:t>•  Executes analysis on dedicated background worker threads without blocking main UI rendering.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011680" cy="320040"/>
          </a:xfrm>
          <a:prstGeom prst="roundRect">
            <a:avLst/>
          </a:prstGeom>
          <a:solidFill>
            <a:srgbClr val="0F2235"/>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6B6D4"/>
                </a:solidFill>
                <a:latin typeface="Arial"/>
              </a:defRPr>
            </a:pPr>
            <a:r>
              <a:t>WEB PLATFORM</a:t>
            </a:r>
          </a:p>
        </p:txBody>
      </p:sp>
      <p:sp>
        <p:nvSpPr>
          <p:cNvPr id="4" name="TextBox 3"/>
          <p:cNvSpPr txBox="1"/>
          <p:nvPr/>
        </p:nvSpPr>
        <p:spPr>
          <a:xfrm>
            <a:off x="9601200" y="365760"/>
            <a:ext cx="1828800" cy="320040"/>
          </a:xfrm>
          <a:prstGeom prst="rect">
            <a:avLst/>
          </a:prstGeom>
          <a:noFill/>
        </p:spPr>
        <p:txBody>
          <a:bodyPr wrap="none">
            <a:spAutoFit/>
          </a:bodyPr>
          <a:lstStyle/>
          <a:p>
            <a:pPr algn="r">
              <a:defRPr sz="1000" b="1">
                <a:solidFill>
                  <a:srgbClr val="94A3B8"/>
                </a:solidFill>
                <a:latin typeface="Consolas"/>
              </a:defRPr>
            </a:pPr>
            <a:r>
              <a:t>SLIDE 08 / 12</a:t>
            </a:r>
          </a:p>
        </p:txBody>
      </p:sp>
      <p:sp>
        <p:nvSpPr>
          <p:cNvPr id="5" name="TextBox 4"/>
          <p:cNvSpPr txBox="1"/>
          <p:nvPr/>
        </p:nvSpPr>
        <p:spPr>
          <a:xfrm>
            <a:off x="731520" y="777240"/>
            <a:ext cx="10698480" cy="548640"/>
          </a:xfrm>
          <a:prstGeom prst="rect">
            <a:avLst/>
          </a:prstGeom>
          <a:noFill/>
        </p:spPr>
        <p:txBody>
          <a:bodyPr wrap="none">
            <a:spAutoFit/>
          </a:bodyPr>
          <a:lstStyle/>
          <a:p>
            <a:pPr>
              <a:defRPr sz="2200" b="1">
                <a:solidFill>
                  <a:srgbClr val="F1F5F9"/>
                </a:solidFill>
                <a:latin typeface="Arial"/>
              </a:defRPr>
            </a:pPr>
            <a:r>
              <a:t>💻 React 19 Web Command Center</a:t>
            </a:r>
          </a:p>
        </p:txBody>
      </p:sp>
      <p:sp>
        <p:nvSpPr>
          <p:cNvPr id="6" name="TextBox 5"/>
          <p:cNvSpPr txBox="1"/>
          <p:nvPr/>
        </p:nvSpPr>
        <p:spPr>
          <a:xfrm>
            <a:off x="731520" y="1280160"/>
            <a:ext cx="10698480" cy="365760"/>
          </a:xfrm>
          <a:prstGeom prst="rect">
            <a:avLst/>
          </a:prstGeom>
          <a:noFill/>
        </p:spPr>
        <p:txBody>
          <a:bodyPr wrap="none">
            <a:spAutoFit/>
          </a:bodyPr>
          <a:lstStyle/>
          <a:p>
            <a:pPr>
              <a:defRPr sz="1100">
                <a:solidFill>
                  <a:srgbClr val="94A3B8"/>
                </a:solidFill>
                <a:latin typeface="Arial"/>
              </a:defRPr>
            </a:pPr>
            <a:r>
              <a:t>Modern desktop security suite for power users and administrators</a:t>
            </a:r>
          </a:p>
        </p:txBody>
      </p:sp>
      <p:sp>
        <p:nvSpPr>
          <p:cNvPr id="7" name="Rounded Rectangle 6"/>
          <p:cNvSpPr/>
          <p:nvPr/>
        </p:nvSpPr>
        <p:spPr>
          <a:xfrm>
            <a:off x="731520" y="1828800"/>
            <a:ext cx="5175504" cy="20574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38BDF8"/>
                </a:solidFill>
                <a:latin typeface="Arial"/>
              </a:defRPr>
            </a:pPr>
            <a:r>
              <a:t>🖥️ Unified Multi-Vector Scanner</a:t>
            </a:r>
          </a:p>
          <a:p>
            <a:pPr>
              <a:spcAft>
                <a:spcPts val="400"/>
              </a:spcAft>
              <a:defRPr sz="1000">
                <a:solidFill>
                  <a:srgbClr val="F1F5F9"/>
                </a:solidFill>
                <a:latin typeface="Calibri"/>
              </a:defRPr>
            </a:pPr>
            <a:r>
              <a:t>•  Dedicated interactive tabs for URL Scans, Email / SMS Text Scans, and QR Code Files.</a:t>
            </a:r>
          </a:p>
          <a:p>
            <a:pPr>
              <a:spcAft>
                <a:spcPts val="400"/>
              </a:spcAft>
              <a:defRPr sz="1000">
                <a:solidFill>
                  <a:srgbClr val="F1F5F9"/>
                </a:solidFill>
                <a:latin typeface="Calibri"/>
              </a:defRPr>
            </a:pPr>
            <a:r>
              <a:t>•  Instant visual validation preventing invalid inputs or empty queries.</a:t>
            </a:r>
          </a:p>
        </p:txBody>
      </p:sp>
      <p:sp>
        <p:nvSpPr>
          <p:cNvPr id="8" name="Rounded Rectangle 7"/>
          <p:cNvSpPr/>
          <p:nvPr/>
        </p:nvSpPr>
        <p:spPr>
          <a:xfrm>
            <a:off x="6272784" y="1828800"/>
            <a:ext cx="5175504" cy="20574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38BDF8"/>
                </a:solidFill>
                <a:latin typeface="Arial"/>
              </a:defRPr>
            </a:pPr>
            <a:r>
              <a:t>📂 Drag-and-Drop QR Dropzone</a:t>
            </a:r>
          </a:p>
          <a:p>
            <a:pPr>
              <a:spcAft>
                <a:spcPts val="400"/>
              </a:spcAft>
              <a:defRPr sz="1000">
                <a:solidFill>
                  <a:srgbClr val="F1F5F9"/>
                </a:solidFill>
                <a:latin typeface="Calibri"/>
              </a:defRPr>
            </a:pPr>
            <a:r>
              <a:t>•  HTML5 drag-and-drop file upload with client-side image preview.</a:t>
            </a:r>
          </a:p>
          <a:p>
            <a:pPr>
              <a:spcAft>
                <a:spcPts val="400"/>
              </a:spcAft>
              <a:defRPr sz="1000">
                <a:solidFill>
                  <a:srgbClr val="F1F5F9"/>
                </a:solidFill>
                <a:latin typeface="Calibri"/>
              </a:defRPr>
            </a:pPr>
            <a:r>
              <a:t>•  Decodes QR images instantly via OpenCV / Pyzbar backend processing.</a:t>
            </a:r>
          </a:p>
        </p:txBody>
      </p:sp>
      <p:sp>
        <p:nvSpPr>
          <p:cNvPr id="9" name="Rounded Rectangle 8"/>
          <p:cNvSpPr/>
          <p:nvPr/>
        </p:nvSpPr>
        <p:spPr>
          <a:xfrm>
            <a:off x="731520" y="4114800"/>
            <a:ext cx="5175504" cy="2057400"/>
          </a:xfrm>
          <a:prstGeom prst="roundRect">
            <a:avLst/>
          </a:prstGeom>
          <a:solidFill>
            <a:srgbClr val="12263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06B6D4"/>
                </a:solidFill>
                <a:latin typeface="Arial"/>
              </a:defRPr>
            </a:pPr>
            <a:r>
              <a:t>🌐 Live DNS Verification</a:t>
            </a:r>
          </a:p>
          <a:p>
            <a:pPr>
              <a:spcAft>
                <a:spcPts val="400"/>
              </a:spcAft>
              <a:defRPr sz="1000">
                <a:solidFill>
                  <a:srgbClr val="F1F5F9"/>
                </a:solidFill>
                <a:latin typeface="Calibri"/>
              </a:defRPr>
            </a:pPr>
            <a:r>
              <a:t>•  Performs active DNS lookups to catch unregistered domains, parked ad-farms, and sinkholed malicious links.</a:t>
            </a:r>
          </a:p>
        </p:txBody>
      </p:sp>
      <p:sp>
        <p:nvSpPr>
          <p:cNvPr id="10" name="Rounded Rectangle 9"/>
          <p:cNvSpPr/>
          <p:nvPr/>
        </p:nvSpPr>
        <p:spPr>
          <a:xfrm>
            <a:off x="6272784" y="4114800"/>
            <a:ext cx="5175504" cy="2057400"/>
          </a:xfrm>
          <a:prstGeom prst="roundRect">
            <a:avLst/>
          </a:prstGeom>
          <a:solidFill>
            <a:srgbClr val="12263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06B6D4"/>
                </a:solidFill>
                <a:latin typeface="Arial"/>
              </a:defRPr>
            </a:pPr>
            <a:r>
              <a:t>📊 Real-Time SQLite Audit Feed</a:t>
            </a:r>
          </a:p>
          <a:p>
            <a:pPr>
              <a:spcAft>
                <a:spcPts val="400"/>
              </a:spcAft>
              <a:defRPr sz="1000">
                <a:solidFill>
                  <a:srgbClr val="F1F5F9"/>
                </a:solidFill>
                <a:latin typeface="Calibri"/>
              </a:defRPr>
            </a:pPr>
            <a:r>
              <a:t>•  Displays a chronological table of all past scans, confidence scores, and triggered rules.</a:t>
            </a:r>
          </a:p>
          <a:p>
            <a:pPr>
              <a:spcAft>
                <a:spcPts val="400"/>
              </a:spcAft>
              <a:defRPr sz="1000">
                <a:solidFill>
                  <a:srgbClr val="F1F5F9"/>
                </a:solidFill>
                <a:latin typeface="Calibri"/>
              </a:defRPr>
            </a:pPr>
            <a:r>
              <a:t>•  Built-in Incident Reporting feature allowing users to flag false positives for model retraining.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011680" cy="320040"/>
          </a:xfrm>
          <a:prstGeom prst="roundRect">
            <a:avLst/>
          </a:prstGeom>
          <a:solidFill>
            <a:srgbClr val="0F2235"/>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6B6D4"/>
                </a:solidFill>
                <a:latin typeface="Arial"/>
              </a:defRPr>
            </a:pPr>
            <a:r>
              <a:t>USER EXPERIENCE &amp; XAI</a:t>
            </a:r>
          </a:p>
        </p:txBody>
      </p:sp>
      <p:sp>
        <p:nvSpPr>
          <p:cNvPr id="4" name="TextBox 3"/>
          <p:cNvSpPr txBox="1"/>
          <p:nvPr/>
        </p:nvSpPr>
        <p:spPr>
          <a:xfrm>
            <a:off x="9601200" y="365760"/>
            <a:ext cx="1828800" cy="320040"/>
          </a:xfrm>
          <a:prstGeom prst="rect">
            <a:avLst/>
          </a:prstGeom>
          <a:noFill/>
        </p:spPr>
        <p:txBody>
          <a:bodyPr wrap="none">
            <a:spAutoFit/>
          </a:bodyPr>
          <a:lstStyle/>
          <a:p>
            <a:pPr algn="r">
              <a:defRPr sz="1000" b="1">
                <a:solidFill>
                  <a:srgbClr val="94A3B8"/>
                </a:solidFill>
                <a:latin typeface="Consolas"/>
              </a:defRPr>
            </a:pPr>
            <a:r>
              <a:t>SLIDE 09 / 12</a:t>
            </a:r>
          </a:p>
        </p:txBody>
      </p:sp>
      <p:sp>
        <p:nvSpPr>
          <p:cNvPr id="5" name="TextBox 4"/>
          <p:cNvSpPr txBox="1"/>
          <p:nvPr/>
        </p:nvSpPr>
        <p:spPr>
          <a:xfrm>
            <a:off x="731520" y="777240"/>
            <a:ext cx="10698480" cy="548640"/>
          </a:xfrm>
          <a:prstGeom prst="rect">
            <a:avLst/>
          </a:prstGeom>
          <a:noFill/>
        </p:spPr>
        <p:txBody>
          <a:bodyPr wrap="none">
            <a:spAutoFit/>
          </a:bodyPr>
          <a:lstStyle/>
          <a:p>
            <a:pPr>
              <a:defRPr sz="2200" b="1">
                <a:solidFill>
                  <a:srgbClr val="F1F5F9"/>
                </a:solidFill>
                <a:latin typeface="Arial"/>
              </a:defRPr>
            </a:pPr>
            <a:r>
              <a:t>🔍 Explainable AI (XAI) &amp; Education</a:t>
            </a:r>
          </a:p>
        </p:txBody>
      </p:sp>
      <p:sp>
        <p:nvSpPr>
          <p:cNvPr id="6" name="TextBox 5"/>
          <p:cNvSpPr txBox="1"/>
          <p:nvPr/>
        </p:nvSpPr>
        <p:spPr>
          <a:xfrm>
            <a:off x="731520" y="1280160"/>
            <a:ext cx="10698480" cy="365760"/>
          </a:xfrm>
          <a:prstGeom prst="rect">
            <a:avLst/>
          </a:prstGeom>
          <a:noFill/>
        </p:spPr>
        <p:txBody>
          <a:bodyPr wrap="none">
            <a:spAutoFit/>
          </a:bodyPr>
          <a:lstStyle/>
          <a:p>
            <a:pPr>
              <a:defRPr sz="1100">
                <a:solidFill>
                  <a:srgbClr val="94A3B8"/>
                </a:solidFill>
                <a:latin typeface="Arial"/>
              </a:defRPr>
            </a:pPr>
            <a:r>
              <a:t>Empowering users with transparent reasoning rather than black-box scores</a:t>
            </a:r>
          </a:p>
        </p:txBody>
      </p:sp>
      <p:sp>
        <p:nvSpPr>
          <p:cNvPr id="7" name="Rounded Rectangle 6"/>
          <p:cNvSpPr/>
          <p:nvPr/>
        </p:nvSpPr>
        <p:spPr>
          <a:xfrm>
            <a:off x="731520" y="1828800"/>
            <a:ext cx="5175504" cy="2057400"/>
          </a:xfrm>
          <a:prstGeom prst="roundRect">
            <a:avLst/>
          </a:prstGeom>
          <a:solidFill>
            <a:srgbClr val="26141C"/>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EF4444"/>
                </a:solidFill>
                <a:latin typeface="Arial"/>
              </a:defRPr>
            </a:pPr>
            <a:r>
              <a:t>🏷️ Itemized Red Flag Breakdown</a:t>
            </a:r>
          </a:p>
          <a:p>
            <a:pPr>
              <a:spcAft>
                <a:spcPts val="400"/>
              </a:spcAft>
              <a:defRPr sz="1000">
                <a:solidFill>
                  <a:srgbClr val="F1F5F9"/>
                </a:solidFill>
                <a:latin typeface="Calibri"/>
              </a:defRPr>
            </a:pPr>
            <a:r>
              <a:t>•  Itemizes exact security violations (e.g. Typosquatting Detected, Missing HTTPS Protocol, Urgency Language).</a:t>
            </a:r>
          </a:p>
          <a:p>
            <a:pPr>
              <a:spcAft>
                <a:spcPts val="400"/>
              </a:spcAft>
              <a:defRPr sz="1000">
                <a:solidFill>
                  <a:srgbClr val="F1F5F9"/>
                </a:solidFill>
                <a:latin typeface="Calibri"/>
              </a:defRPr>
            </a:pPr>
            <a:r>
              <a:t>•  Assigns severity tags (High, Medium, Low) for transparent risk evaluation.</a:t>
            </a:r>
          </a:p>
        </p:txBody>
      </p:sp>
      <p:sp>
        <p:nvSpPr>
          <p:cNvPr id="8" name="Rounded Rectangle 7"/>
          <p:cNvSpPr/>
          <p:nvPr/>
        </p:nvSpPr>
        <p:spPr>
          <a:xfrm>
            <a:off x="6272784" y="1828800"/>
            <a:ext cx="5175504" cy="2057400"/>
          </a:xfrm>
          <a:prstGeom prst="roundRect">
            <a:avLst/>
          </a:prstGeom>
          <a:solidFill>
            <a:srgbClr val="12263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06B6D4"/>
                </a:solidFill>
                <a:latin typeface="Arial"/>
              </a:defRPr>
            </a:pPr>
            <a:r>
              <a:t>📈 Statistical Confidence Gauge</a:t>
            </a:r>
          </a:p>
          <a:p>
            <a:pPr>
              <a:spcAft>
                <a:spcPts val="400"/>
              </a:spcAft>
              <a:defRPr sz="1000">
                <a:solidFill>
                  <a:srgbClr val="F1F5F9"/>
                </a:solidFill>
                <a:latin typeface="Calibri"/>
              </a:defRPr>
            </a:pPr>
            <a:r>
              <a:t>•  Displays quantified percentage agreement between ML classifier and deterministic rule sets.</a:t>
            </a:r>
          </a:p>
          <a:p>
            <a:pPr>
              <a:spcAft>
                <a:spcPts val="400"/>
              </a:spcAft>
              <a:defRPr sz="1000">
                <a:solidFill>
                  <a:srgbClr val="F1F5F9"/>
                </a:solidFill>
                <a:latin typeface="Calibri"/>
              </a:defRPr>
            </a:pPr>
            <a:r>
              <a:t>•  Helps users gauge the certainty level of the analysis.</a:t>
            </a:r>
          </a:p>
        </p:txBody>
      </p:sp>
      <p:sp>
        <p:nvSpPr>
          <p:cNvPr id="9" name="Rounded Rectangle 8"/>
          <p:cNvSpPr/>
          <p:nvPr/>
        </p:nvSpPr>
        <p:spPr>
          <a:xfrm>
            <a:off x="731520" y="4114800"/>
            <a:ext cx="5175504" cy="2057400"/>
          </a:xfrm>
          <a:prstGeom prst="roundRect">
            <a:avLst/>
          </a:prstGeom>
          <a:solidFill>
            <a:srgbClr val="10252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10B981"/>
                </a:solidFill>
                <a:latin typeface="Arial"/>
              </a:defRPr>
            </a:pPr>
            <a:r>
              <a:t>💡 Actionable Safety Guidelines</a:t>
            </a:r>
          </a:p>
          <a:p>
            <a:pPr>
              <a:spcAft>
                <a:spcPts val="400"/>
              </a:spcAft>
              <a:defRPr sz="1000">
                <a:solidFill>
                  <a:srgbClr val="F1F5F9"/>
                </a:solidFill>
                <a:latin typeface="Calibri"/>
              </a:defRPr>
            </a:pPr>
            <a:r>
              <a:t>•  Provides practical, step-by-step instructions (e.g. 'Do not share OTP', 'Navigate to the official portal manually').</a:t>
            </a:r>
          </a:p>
          <a:p>
            <a:pPr>
              <a:spcAft>
                <a:spcPts val="400"/>
              </a:spcAft>
              <a:defRPr sz="1000">
                <a:solidFill>
                  <a:srgbClr val="F1F5F9"/>
                </a:solidFill>
                <a:latin typeface="Calibri"/>
              </a:defRPr>
            </a:pPr>
            <a:r>
              <a:t>•  Transforms security alerts into proactive user education.</a:t>
            </a:r>
          </a:p>
        </p:txBody>
      </p:sp>
      <p:sp>
        <p:nvSpPr>
          <p:cNvPr id="10" name="Rounded Rectangle 9"/>
          <p:cNvSpPr/>
          <p:nvPr/>
        </p:nvSpPr>
        <p:spPr>
          <a:xfrm>
            <a:off x="6272784" y="4114800"/>
            <a:ext cx="5175504" cy="20574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38BDF8"/>
                </a:solidFill>
                <a:latin typeface="Arial"/>
              </a:defRPr>
            </a:pPr>
            <a:r>
              <a:t>🎨 Slide-Up Result Bottom Sheet</a:t>
            </a:r>
          </a:p>
          <a:p>
            <a:pPr>
              <a:spcAft>
                <a:spcPts val="400"/>
              </a:spcAft>
              <a:defRPr sz="1000">
                <a:solidFill>
                  <a:srgbClr val="F1F5F9"/>
                </a:solidFill>
                <a:latin typeface="Calibri"/>
              </a:defRPr>
            </a:pPr>
            <a:r>
              <a:t>•  Animated modal with bold color badges (Safe, Suspicious, Dangerous).</a:t>
            </a:r>
          </a:p>
          <a:p>
            <a:pPr>
              <a:spcAft>
                <a:spcPts val="400"/>
              </a:spcAft>
              <a:defRPr sz="1000">
                <a:solidFill>
                  <a:srgbClr val="F1F5F9"/>
                </a:solidFill>
                <a:latin typeface="Calibri"/>
              </a:defRPr>
            </a:pPr>
            <a:r>
              <a:t>•  One-tap dismiss with automatic camera resumption for subsequent scans.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011680" cy="320040"/>
          </a:xfrm>
          <a:prstGeom prst="roundRect">
            <a:avLst/>
          </a:prstGeom>
          <a:solidFill>
            <a:srgbClr val="0F2235"/>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6B6D4"/>
                </a:solidFill>
                <a:latin typeface="Arial"/>
              </a:defRPr>
            </a:pPr>
            <a:r>
              <a:t>VALIDATION &amp; BENCHMARKS</a:t>
            </a:r>
          </a:p>
        </p:txBody>
      </p:sp>
      <p:sp>
        <p:nvSpPr>
          <p:cNvPr id="4" name="TextBox 3"/>
          <p:cNvSpPr txBox="1"/>
          <p:nvPr/>
        </p:nvSpPr>
        <p:spPr>
          <a:xfrm>
            <a:off x="9601200" y="365760"/>
            <a:ext cx="1828800" cy="320040"/>
          </a:xfrm>
          <a:prstGeom prst="rect">
            <a:avLst/>
          </a:prstGeom>
          <a:noFill/>
        </p:spPr>
        <p:txBody>
          <a:bodyPr wrap="none">
            <a:spAutoFit/>
          </a:bodyPr>
          <a:lstStyle/>
          <a:p>
            <a:pPr algn="r">
              <a:defRPr sz="1000" b="1">
                <a:solidFill>
                  <a:srgbClr val="94A3B8"/>
                </a:solidFill>
                <a:latin typeface="Consolas"/>
              </a:defRPr>
            </a:pPr>
            <a:r>
              <a:t>SLIDE 10 / 12</a:t>
            </a:r>
          </a:p>
        </p:txBody>
      </p:sp>
      <p:sp>
        <p:nvSpPr>
          <p:cNvPr id="5" name="TextBox 4"/>
          <p:cNvSpPr txBox="1"/>
          <p:nvPr/>
        </p:nvSpPr>
        <p:spPr>
          <a:xfrm>
            <a:off x="731520" y="777240"/>
            <a:ext cx="10698480" cy="548640"/>
          </a:xfrm>
          <a:prstGeom prst="rect">
            <a:avLst/>
          </a:prstGeom>
          <a:noFill/>
        </p:spPr>
        <p:txBody>
          <a:bodyPr wrap="none">
            <a:spAutoFit/>
          </a:bodyPr>
          <a:lstStyle/>
          <a:p>
            <a:pPr>
              <a:defRPr sz="2200" b="1">
                <a:solidFill>
                  <a:srgbClr val="F1F5F9"/>
                </a:solidFill>
                <a:latin typeface="Arial"/>
              </a:defRPr>
            </a:pPr>
            <a:r>
              <a:t>📊 Testing, Verification &amp; Performance Metrics</a:t>
            </a:r>
          </a:p>
        </p:txBody>
      </p:sp>
      <p:sp>
        <p:nvSpPr>
          <p:cNvPr id="6" name="TextBox 5"/>
          <p:cNvSpPr txBox="1"/>
          <p:nvPr/>
        </p:nvSpPr>
        <p:spPr>
          <a:xfrm>
            <a:off x="731520" y="1280160"/>
            <a:ext cx="10698480" cy="365760"/>
          </a:xfrm>
          <a:prstGeom prst="rect">
            <a:avLst/>
          </a:prstGeom>
          <a:noFill/>
        </p:spPr>
        <p:txBody>
          <a:bodyPr wrap="none">
            <a:spAutoFit/>
          </a:bodyPr>
          <a:lstStyle/>
          <a:p>
            <a:pPr>
              <a:defRPr sz="1100">
                <a:solidFill>
                  <a:srgbClr val="94A3B8"/>
                </a:solidFill>
                <a:latin typeface="Arial"/>
              </a:defRPr>
            </a:pPr>
            <a:r>
              <a:t>Rigorously tested across real-world phishing datasets and edge cases</a:t>
            </a:r>
          </a:p>
        </p:txBody>
      </p:sp>
      <p:sp>
        <p:nvSpPr>
          <p:cNvPr id="7" name="Rounded Rectangle 6"/>
          <p:cNvSpPr/>
          <p:nvPr/>
        </p:nvSpPr>
        <p:spPr>
          <a:xfrm>
            <a:off x="731520" y="1828800"/>
            <a:ext cx="5175504" cy="2057400"/>
          </a:xfrm>
          <a:prstGeom prst="roundRect">
            <a:avLst/>
          </a:prstGeom>
          <a:solidFill>
            <a:srgbClr val="10252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10B981"/>
                </a:solidFill>
                <a:latin typeface="Arial"/>
              </a:defRPr>
            </a:pPr>
            <a:r>
              <a:t>✅ 28 / 28 Automated Tests Passed</a:t>
            </a:r>
          </a:p>
          <a:p>
            <a:pPr>
              <a:spcAft>
                <a:spcPts val="400"/>
              </a:spcAft>
              <a:defRPr sz="1000">
                <a:solidFill>
                  <a:srgbClr val="F1F5F9"/>
                </a:solidFill>
                <a:latin typeface="Calibri"/>
              </a:defRPr>
            </a:pPr>
            <a:r>
              <a:t>•  100% test pass rate across unit, integration, and API test suites.</a:t>
            </a:r>
          </a:p>
          <a:p>
            <a:pPr>
              <a:spcAft>
                <a:spcPts val="400"/>
              </a:spcAft>
              <a:defRPr sz="1000">
                <a:solidFill>
                  <a:srgbClr val="F1F5F9"/>
                </a:solidFill>
                <a:latin typeface="Calibri"/>
              </a:defRPr>
            </a:pPr>
            <a:r>
              <a:t>•  Full coverage for URL normalizer, rate limiter, QR decoder, and false-positive reduction.</a:t>
            </a:r>
          </a:p>
        </p:txBody>
      </p:sp>
      <p:sp>
        <p:nvSpPr>
          <p:cNvPr id="8" name="Rounded Rectangle 7"/>
          <p:cNvSpPr/>
          <p:nvPr/>
        </p:nvSpPr>
        <p:spPr>
          <a:xfrm>
            <a:off x="6272784" y="1828800"/>
            <a:ext cx="5175504" cy="2057400"/>
          </a:xfrm>
          <a:prstGeom prst="roundRect">
            <a:avLst/>
          </a:prstGeom>
          <a:solidFill>
            <a:srgbClr val="12263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06B6D4"/>
                </a:solidFill>
                <a:latin typeface="Arial"/>
              </a:defRPr>
            </a:pPr>
            <a:r>
              <a:t>⚡ Sub-10 Millisecond Latency</a:t>
            </a:r>
          </a:p>
          <a:p>
            <a:pPr>
              <a:spcAft>
                <a:spcPts val="400"/>
              </a:spcAft>
              <a:defRPr sz="1000">
                <a:solidFill>
                  <a:srgbClr val="F1F5F9"/>
                </a:solidFill>
                <a:latin typeface="Calibri"/>
              </a:defRPr>
            </a:pPr>
            <a:r>
              <a:t>•  Average backend inference turnaround in &lt;10ms.</a:t>
            </a:r>
          </a:p>
          <a:p>
            <a:pPr>
              <a:spcAft>
                <a:spcPts val="400"/>
              </a:spcAft>
              <a:defRPr sz="1000">
                <a:solidFill>
                  <a:srgbClr val="F1F5F9"/>
                </a:solidFill>
                <a:latin typeface="Calibri"/>
              </a:defRPr>
            </a:pPr>
            <a:r>
              <a:t>•  Ensures zero lag on incoming mobile message notifications.</a:t>
            </a:r>
          </a:p>
        </p:txBody>
      </p:sp>
      <p:sp>
        <p:nvSpPr>
          <p:cNvPr id="9" name="Rounded Rectangle 8"/>
          <p:cNvSpPr/>
          <p:nvPr/>
        </p:nvSpPr>
        <p:spPr>
          <a:xfrm>
            <a:off x="731520" y="4114800"/>
            <a:ext cx="5175504" cy="20574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38BDF8"/>
                </a:solidFill>
                <a:latin typeface="Arial"/>
              </a:defRPr>
            </a:pPr>
            <a:r>
              <a:t>🎯 Zero False Positives on Clean Text</a:t>
            </a:r>
          </a:p>
          <a:p>
            <a:pPr>
              <a:spcAft>
                <a:spcPts val="400"/>
              </a:spcAft>
              <a:defRPr sz="1000">
                <a:solidFill>
                  <a:srgbClr val="F1F5F9"/>
                </a:solidFill>
                <a:latin typeface="Calibri"/>
              </a:defRPr>
            </a:pPr>
            <a:r>
              <a:t>•  Casual text ('Hi bro let us meet tomorrow') scores 88.5% Safe with 0 flags.</a:t>
            </a:r>
          </a:p>
          <a:p>
            <a:pPr>
              <a:spcAft>
                <a:spcPts val="400"/>
              </a:spcAft>
              <a:defRPr sz="1000">
                <a:solidFill>
                  <a:srgbClr val="F1F5F9"/>
                </a:solidFill>
                <a:latin typeface="Calibri"/>
              </a:defRPr>
            </a:pPr>
            <a:r>
              <a:t>•  Legitimate bank transactional OTP messages correctly recognized as safe.</a:t>
            </a:r>
          </a:p>
        </p:txBody>
      </p:sp>
      <p:sp>
        <p:nvSpPr>
          <p:cNvPr id="10" name="Rounded Rectangle 9"/>
          <p:cNvSpPr/>
          <p:nvPr/>
        </p:nvSpPr>
        <p:spPr>
          <a:xfrm>
            <a:off x="6272784" y="4114800"/>
            <a:ext cx="5175504" cy="2057400"/>
          </a:xfrm>
          <a:prstGeom prst="roundRect">
            <a:avLst/>
          </a:prstGeom>
          <a:solidFill>
            <a:srgbClr val="26141C"/>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EF4444"/>
                </a:solidFill>
                <a:latin typeface="Arial"/>
              </a:defRPr>
            </a:pPr>
            <a:r>
              <a:t>🚨 96%+ Precision on Malicious URLs</a:t>
            </a:r>
          </a:p>
          <a:p>
            <a:pPr>
              <a:spcAft>
                <a:spcPts val="400"/>
              </a:spcAft>
              <a:defRPr sz="1000">
                <a:solidFill>
                  <a:srgbClr val="F1F5F9"/>
                </a:solidFill>
                <a:latin typeface="Calibri"/>
              </a:defRPr>
            </a:pPr>
            <a:r>
              <a:t>•  Impersonated domains (paypal-security-update.xyz) reliably flagged with 96.0% Dangerous confidence.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011680" cy="320040"/>
          </a:xfrm>
          <a:prstGeom prst="roundRect">
            <a:avLst/>
          </a:prstGeom>
          <a:solidFill>
            <a:srgbClr val="0F2235"/>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6B6D4"/>
                </a:solidFill>
                <a:latin typeface="Arial"/>
              </a:defRPr>
            </a:pPr>
            <a:r>
              <a:t>FUTURE VISION</a:t>
            </a:r>
          </a:p>
        </p:txBody>
      </p:sp>
      <p:sp>
        <p:nvSpPr>
          <p:cNvPr id="4" name="TextBox 3"/>
          <p:cNvSpPr txBox="1"/>
          <p:nvPr/>
        </p:nvSpPr>
        <p:spPr>
          <a:xfrm>
            <a:off x="9601200" y="365760"/>
            <a:ext cx="1828800" cy="320040"/>
          </a:xfrm>
          <a:prstGeom prst="rect">
            <a:avLst/>
          </a:prstGeom>
          <a:noFill/>
        </p:spPr>
        <p:txBody>
          <a:bodyPr wrap="none">
            <a:spAutoFit/>
          </a:bodyPr>
          <a:lstStyle/>
          <a:p>
            <a:pPr algn="r">
              <a:defRPr sz="1000" b="1">
                <a:solidFill>
                  <a:srgbClr val="94A3B8"/>
                </a:solidFill>
                <a:latin typeface="Consolas"/>
              </a:defRPr>
            </a:pPr>
            <a:r>
              <a:t>SLIDE 11 / 12</a:t>
            </a:r>
          </a:p>
        </p:txBody>
      </p:sp>
      <p:sp>
        <p:nvSpPr>
          <p:cNvPr id="5" name="TextBox 4"/>
          <p:cNvSpPr txBox="1"/>
          <p:nvPr/>
        </p:nvSpPr>
        <p:spPr>
          <a:xfrm>
            <a:off x="731520" y="777240"/>
            <a:ext cx="10698480" cy="548640"/>
          </a:xfrm>
          <a:prstGeom prst="rect">
            <a:avLst/>
          </a:prstGeom>
          <a:noFill/>
        </p:spPr>
        <p:txBody>
          <a:bodyPr wrap="none">
            <a:spAutoFit/>
          </a:bodyPr>
          <a:lstStyle/>
          <a:p>
            <a:pPr>
              <a:defRPr sz="2200" b="1">
                <a:solidFill>
                  <a:srgbClr val="F1F5F9"/>
                </a:solidFill>
                <a:latin typeface="Arial"/>
              </a:defRPr>
            </a:pPr>
            <a:r>
              <a:t>🚀 Scaling CyberShield: Future Roadmap</a:t>
            </a:r>
          </a:p>
        </p:txBody>
      </p:sp>
      <p:sp>
        <p:nvSpPr>
          <p:cNvPr id="6" name="TextBox 5"/>
          <p:cNvSpPr txBox="1"/>
          <p:nvPr/>
        </p:nvSpPr>
        <p:spPr>
          <a:xfrm>
            <a:off x="731520" y="1280160"/>
            <a:ext cx="10698480" cy="365760"/>
          </a:xfrm>
          <a:prstGeom prst="rect">
            <a:avLst/>
          </a:prstGeom>
          <a:noFill/>
        </p:spPr>
        <p:txBody>
          <a:bodyPr wrap="none">
            <a:spAutoFit/>
          </a:bodyPr>
          <a:lstStyle/>
          <a:p>
            <a:pPr>
              <a:defRPr sz="1100">
                <a:solidFill>
                  <a:srgbClr val="94A3B8"/>
                </a:solidFill>
                <a:latin typeface="Arial"/>
              </a:defRPr>
            </a:pPr>
            <a:r>
              <a:t>Expanding the ecosystem across platforms and emerging threat vectors</a:t>
            </a:r>
          </a:p>
        </p:txBody>
      </p:sp>
      <p:sp>
        <p:nvSpPr>
          <p:cNvPr id="7" name="Rounded Rectangle 6"/>
          <p:cNvSpPr/>
          <p:nvPr/>
        </p:nvSpPr>
        <p:spPr>
          <a:xfrm>
            <a:off x="731520" y="1828800"/>
            <a:ext cx="5175504" cy="20574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38BDF8"/>
                </a:solidFill>
                <a:latin typeface="Arial"/>
              </a:defRPr>
            </a:pPr>
            <a:r>
              <a:t>🧩 Browser Extension Ecosystem</a:t>
            </a:r>
          </a:p>
          <a:p>
            <a:pPr>
              <a:spcAft>
                <a:spcPts val="400"/>
              </a:spcAft>
              <a:defRPr sz="1000">
                <a:solidFill>
                  <a:srgbClr val="F1F5F9"/>
                </a:solidFill>
                <a:latin typeface="Calibri"/>
              </a:defRPr>
            </a:pPr>
            <a:r>
              <a:t>•  Chromium &amp; Firefox extension providing live DOM phishing link scanning and visual threat badges.</a:t>
            </a:r>
          </a:p>
        </p:txBody>
      </p:sp>
      <p:sp>
        <p:nvSpPr>
          <p:cNvPr id="8" name="Rounded Rectangle 7"/>
          <p:cNvSpPr/>
          <p:nvPr/>
        </p:nvSpPr>
        <p:spPr>
          <a:xfrm>
            <a:off x="6272784" y="1828800"/>
            <a:ext cx="5175504" cy="2057400"/>
          </a:xfrm>
          <a:prstGeom prst="roundRect">
            <a:avLst/>
          </a:prstGeom>
          <a:solidFill>
            <a:srgbClr val="12263A"/>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06B6D4"/>
                </a:solidFill>
                <a:latin typeface="Arial"/>
              </a:defRPr>
            </a:pPr>
            <a:r>
              <a:t>🗣️ Vernacular &amp; Multilingual AI</a:t>
            </a:r>
          </a:p>
          <a:p>
            <a:pPr>
              <a:spcAft>
                <a:spcPts val="400"/>
              </a:spcAft>
              <a:defRPr sz="1000">
                <a:solidFill>
                  <a:srgbClr val="F1F5F9"/>
                </a:solidFill>
                <a:latin typeface="Calibri"/>
              </a:defRPr>
            </a:pPr>
            <a:r>
              <a:t>•  Expanding NLP models to detect smishing in Indian regional languages (Telugu, Hindi, Tamil, Kannada).</a:t>
            </a:r>
          </a:p>
          <a:p>
            <a:pPr>
              <a:spcAft>
                <a:spcPts val="400"/>
              </a:spcAft>
              <a:defRPr sz="1000">
                <a:solidFill>
                  <a:srgbClr val="F1F5F9"/>
                </a:solidFill>
                <a:latin typeface="Calibri"/>
              </a:defRPr>
            </a:pPr>
            <a:r>
              <a:t>•  Catching phonetically spelled financial scam lures (Hinglish / Telugish).</a:t>
            </a:r>
          </a:p>
        </p:txBody>
      </p:sp>
      <p:sp>
        <p:nvSpPr>
          <p:cNvPr id="9" name="Rounded Rectangle 8"/>
          <p:cNvSpPr/>
          <p:nvPr/>
        </p:nvSpPr>
        <p:spPr>
          <a:xfrm>
            <a:off x="731520" y="4114800"/>
            <a:ext cx="5175504" cy="20574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38BDF8"/>
                </a:solidFill>
                <a:latin typeface="Arial"/>
              </a:defRPr>
            </a:pPr>
            <a:r>
              <a:t>🔓 Dark Web &amp; Identity Shield</a:t>
            </a:r>
          </a:p>
          <a:p>
            <a:pPr>
              <a:spcAft>
                <a:spcPts val="400"/>
              </a:spcAft>
              <a:defRPr sz="1000">
                <a:solidFill>
                  <a:srgbClr val="F1F5F9"/>
                </a:solidFill>
                <a:latin typeface="Calibri"/>
              </a:defRPr>
            </a:pPr>
            <a:r>
              <a:t>•  Integration with breach databases to alert users if their emails or passwords appear in active leaks.</a:t>
            </a:r>
          </a:p>
        </p:txBody>
      </p:sp>
      <p:sp>
        <p:nvSpPr>
          <p:cNvPr id="10" name="Rounded Rectangle 9"/>
          <p:cNvSpPr/>
          <p:nvPr/>
        </p:nvSpPr>
        <p:spPr>
          <a:xfrm>
            <a:off x="6272784" y="4114800"/>
            <a:ext cx="5175504" cy="205740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64592"/>
          <a:lstStyle/>
          <a:p>
            <a:pPr algn="ctr">
              <a:spcAft>
                <a:spcPts val="800"/>
              </a:spcAft>
              <a:defRPr sz="1300" b="1">
                <a:solidFill>
                  <a:srgbClr val="38BDF8"/>
                </a:solidFill>
                <a:latin typeface="Arial"/>
              </a:defRPr>
            </a:pPr>
            <a:r>
              <a:t>🏢 Enterprise SIEM &amp; SOC Connectors</a:t>
            </a:r>
          </a:p>
          <a:p>
            <a:pPr>
              <a:spcAft>
                <a:spcPts val="400"/>
              </a:spcAft>
              <a:defRPr sz="1000">
                <a:solidFill>
                  <a:srgbClr val="F1F5F9"/>
                </a:solidFill>
                <a:latin typeface="Calibri"/>
              </a:defRPr>
            </a:pPr>
            <a:r>
              <a:t>•  Exporting mobile threat telemetry to corporate Splunk and Elastic clusters for enterprise fleet protection.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62895" cy="731520"/>
          </a:xfrm>
          <a:prstGeom prst="rect">
            <a:avLst/>
          </a:prstGeom>
          <a:noFill/>
        </p:spPr>
        <p:txBody>
          <a:bodyPr wrap="none">
            <a:spAutoFit/>
          </a:bodyPr>
          <a:lstStyle/>
          <a:p>
            <a:pPr algn="ctr">
              <a:defRPr sz="4400"/>
            </a:pPr>
            <a:r>
              <a:t>🛡️</a:t>
            </a:r>
          </a:p>
        </p:txBody>
      </p:sp>
      <p:sp>
        <p:nvSpPr>
          <p:cNvPr id="4" name="TextBox 3"/>
          <p:cNvSpPr txBox="1"/>
          <p:nvPr/>
        </p:nvSpPr>
        <p:spPr>
          <a:xfrm>
            <a:off x="914400" y="1645920"/>
            <a:ext cx="10362895" cy="731520"/>
          </a:xfrm>
          <a:prstGeom prst="rect">
            <a:avLst/>
          </a:prstGeom>
          <a:noFill/>
        </p:spPr>
        <p:txBody>
          <a:bodyPr wrap="none">
            <a:spAutoFit/>
          </a:bodyPr>
          <a:lstStyle/>
          <a:p>
            <a:pPr algn="ctr">
              <a:defRPr sz="3600" b="1">
                <a:solidFill>
                  <a:srgbClr val="F1F5F9"/>
                </a:solidFill>
                <a:latin typeface="Arial"/>
              </a:defRPr>
            </a:pPr>
            <a:r>
              <a:t>CYBERSHIELD</a:t>
            </a:r>
          </a:p>
        </p:txBody>
      </p:sp>
      <p:sp>
        <p:nvSpPr>
          <p:cNvPr id="5" name="TextBox 4"/>
          <p:cNvSpPr txBox="1"/>
          <p:nvPr/>
        </p:nvSpPr>
        <p:spPr>
          <a:xfrm>
            <a:off x="914400" y="2377440"/>
            <a:ext cx="10362895" cy="457200"/>
          </a:xfrm>
          <a:prstGeom prst="rect">
            <a:avLst/>
          </a:prstGeom>
          <a:noFill/>
        </p:spPr>
        <p:txBody>
          <a:bodyPr wrap="none">
            <a:spAutoFit/>
          </a:bodyPr>
          <a:lstStyle/>
          <a:p>
            <a:pPr algn="ctr">
              <a:defRPr sz="1500" b="1">
                <a:solidFill>
                  <a:srgbClr val="38BDF8"/>
                </a:solidFill>
                <a:latin typeface="Arial"/>
              </a:defRPr>
            </a:pPr>
            <a:r>
              <a:t>Protecting Every Click. Securing Every Message.</a:t>
            </a:r>
          </a:p>
        </p:txBody>
      </p:sp>
      <p:sp>
        <p:nvSpPr>
          <p:cNvPr id="6" name="Rounded Rectangle 5"/>
          <p:cNvSpPr/>
          <p:nvPr/>
        </p:nvSpPr>
        <p:spPr>
          <a:xfrm>
            <a:off x="914400" y="3017520"/>
            <a:ext cx="3291840" cy="1371600"/>
          </a:xfrm>
          <a:prstGeom prst="roundRect">
            <a:avLst/>
          </a:prstGeom>
          <a:solidFill>
            <a:srgbClr val="1E293B"/>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1100" b="1">
                <a:solidFill>
                  <a:srgbClr val="10B981"/>
                </a:solidFill>
              </a:defRPr>
            </a:pPr>
            <a:r>
              <a:t>⚡ AUTONOMOUS DEFENSE</a:t>
            </a:r>
          </a:p>
          <a:p>
            <a:pPr algn="ctr">
              <a:defRPr sz="1000">
                <a:solidFill>
                  <a:srgbClr val="F1F5F9"/>
                </a:solidFill>
              </a:defRPr>
            </a:pPr>
            <a:r>
              <a:t>Zero-friction background scanning on WhatsApp &amp; SMS without user intervention.</a:t>
            </a:r>
          </a:p>
        </p:txBody>
      </p:sp>
      <p:sp>
        <p:nvSpPr>
          <p:cNvPr id="7" name="Rounded Rectangle 6"/>
          <p:cNvSpPr/>
          <p:nvPr/>
        </p:nvSpPr>
        <p:spPr>
          <a:xfrm>
            <a:off x="4443984" y="3017520"/>
            <a:ext cx="3291840" cy="1371600"/>
          </a:xfrm>
          <a:prstGeom prst="roundRect">
            <a:avLst/>
          </a:prstGeom>
          <a:solidFill>
            <a:srgbClr val="1E293B"/>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1100" b="1">
                <a:solidFill>
                  <a:srgbClr val="06B6D4"/>
                </a:solidFill>
              </a:defRPr>
            </a:pPr>
            <a:r>
              <a:t>🧠 EXPLAINABLE AI (XAI)</a:t>
            </a:r>
          </a:p>
          <a:p>
            <a:pPr algn="ctr">
              <a:defRPr sz="1000">
                <a:solidFill>
                  <a:srgbClr val="F1F5F9"/>
                </a:solidFill>
              </a:defRPr>
            </a:pPr>
            <a:r>
              <a:t>Itemized Red Flag security violations with actionable safety guidance.</a:t>
            </a:r>
          </a:p>
        </p:txBody>
      </p:sp>
      <p:sp>
        <p:nvSpPr>
          <p:cNvPr id="8" name="Rounded Rectangle 7"/>
          <p:cNvSpPr/>
          <p:nvPr/>
        </p:nvSpPr>
        <p:spPr>
          <a:xfrm>
            <a:off x="7982712" y="3017520"/>
            <a:ext cx="3291840" cy="1371600"/>
          </a:xfrm>
          <a:prstGeom prst="round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1100" b="1">
                <a:solidFill>
                  <a:srgbClr val="38BDF8"/>
                </a:solidFill>
              </a:defRPr>
            </a:pPr>
            <a:r>
              <a:t>📊 PRODUCTION-READY</a:t>
            </a:r>
          </a:p>
          <a:p>
            <a:pPr algn="ctr">
              <a:defRPr sz="1000">
                <a:solidFill>
                  <a:srgbClr val="F1F5F9"/>
                </a:solidFill>
              </a:defRPr>
            </a:pPr>
            <a:r>
              <a:t>28/28 automated tests passed with sub-10ms inference turnaround.</a:t>
            </a:r>
          </a:p>
        </p:txBody>
      </p:sp>
      <p:sp>
        <p:nvSpPr>
          <p:cNvPr id="9" name="TextBox 8"/>
          <p:cNvSpPr txBox="1"/>
          <p:nvPr/>
        </p:nvSpPr>
        <p:spPr>
          <a:xfrm>
            <a:off x="914400" y="4754880"/>
            <a:ext cx="10362895" cy="731520"/>
          </a:xfrm>
          <a:prstGeom prst="rect">
            <a:avLst/>
          </a:prstGeom>
          <a:noFill/>
        </p:spPr>
        <p:txBody>
          <a:bodyPr wrap="none">
            <a:spAutoFit/>
          </a:bodyPr>
          <a:lstStyle/>
          <a:p>
            <a:pPr algn="ctr">
              <a:defRPr sz="2000" b="1">
                <a:solidFill>
                  <a:srgbClr val="F1F5F9"/>
                </a:solidFill>
                <a:latin typeface="Arial"/>
              </a:defRPr>
            </a:pPr>
            <a:r>
              <a:t>Thank You! We are open for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